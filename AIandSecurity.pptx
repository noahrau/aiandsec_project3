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9" r:id="rId2"/>
    <p:sldId id="318" r:id="rId3"/>
    <p:sldId id="319" r:id="rId4"/>
    <p:sldId id="331" r:id="rId5"/>
    <p:sldId id="320" r:id="rId6"/>
    <p:sldId id="329" r:id="rId7"/>
    <p:sldId id="321" r:id="rId8"/>
    <p:sldId id="322" r:id="rId9"/>
    <p:sldId id="323" r:id="rId10"/>
    <p:sldId id="334" r:id="rId11"/>
    <p:sldId id="333" r:id="rId12"/>
    <p:sldId id="330" r:id="rId13"/>
    <p:sldId id="328" r:id="rId14"/>
    <p:sldId id="327" r:id="rId15"/>
    <p:sldId id="332" r:id="rId16"/>
    <p:sldId id="325" r:id="rId17"/>
    <p:sldId id="326" r:id="rId18"/>
    <p:sldId id="33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E4FF0E-3791-54BF-B535-78FE8845B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D5C109-2806-6190-A226-1AA9B2088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F2C9F9-2D76-B4CC-2650-09DC1655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7A18B9-B094-D087-E1A8-8567B304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62F386-25E2-3F0A-34EE-20349FFB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8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18492-768E-D425-76CE-C724744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65927C-F381-4033-2139-F42B2E10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33CFF2-71D7-9E57-DCE6-DA558634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E7F246-FC34-E3B5-D2D2-B93B66CC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9B523F-34D8-2AC9-2239-4DA5790F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80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7E0F9B-BF05-6C84-1C97-B55DBE15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0408AE-5155-61C2-B025-965AAD76D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A63F9E-5FD7-A78E-3E6F-1542C68E3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193E04-7935-180A-BE80-094475EF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A7C5B2-F739-1778-01B7-4FBA797FD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8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6E2AE8-CBB6-F7C2-7109-9BFE6AAF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30593F-DC90-259F-3CA0-603CD5663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F53EF30-7859-13C9-2C55-0FEFB4B8B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111194-D2D7-A916-4C4C-4329F6171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5F0F8A-BE0D-0F22-F9CB-BBCBC14A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3C9B87-36FC-42FB-4793-ED6F79484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59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0A04A-BDC4-07D9-0327-C75178C5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C9EECB-F3B2-5337-1345-CD32AA9D5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D6AF6A-BE6A-07D4-F3F7-03BDC65B3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2A0FFD3-3D72-006C-793B-19CE991A27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5B93B3-AA71-C655-88A1-C5A456FAA3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4FECD8-ACA0-1451-D04E-36931033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CF5CFB-C154-7D45-5BD3-6CD0463EA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3DE802-95EF-CE7A-57B2-FF6E3577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36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122C47-DA4C-FEA3-395A-20184AA2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07D6203-3DC6-F709-692B-6203F83A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85350C-D243-1B01-2665-922BE186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267F92-8F8E-1ABE-3BBC-59BED07C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4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CF791A-75AB-C05C-BCEE-E6A31E12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706297A-8995-DDE1-5632-71F77A1B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1EDD139-E05F-D9DF-D959-A82605EF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14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D0C5D-E67C-5F45-836F-286327508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BB8187-4D9E-4639-3C58-E6F3C6DE3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0520C3-E726-815D-1E62-E0A941F7F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C6CF0E-EA3F-94EE-1040-18A40E04C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4767640-DEDD-3E5E-1BDC-F27E652D1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22212D-2F40-C5D6-B294-8D0143BC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7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11DFB-FE00-3F7E-A622-79BBACBFC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4CDD337-B576-FB1A-6222-2D8CFABDD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3C2651-F263-F08B-1A73-81C379B6E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CEE1ED-AE16-2F1F-4D53-A9193747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DF915B7-0F19-005D-7EE6-7537610D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F1F5D1-FC4C-18B2-4B74-615169F1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942E6-C81B-76D6-F6FD-B821F7BE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0FF664-F8D2-0D0F-7F89-7057AC96B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927F4A-A451-F734-1F46-2F3C978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3255B8-C9E4-D285-D901-6B718F9F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88B002-BCD0-8559-913F-6EBF800E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3AF3475-0445-ECF0-E541-E0041153B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782D42-7B40-A4E3-E6F7-D0AF9AAF4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B6AAF-65ED-73F4-40A2-D6E3B8C0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68252E-0FDE-BFB2-A5F9-EE41C17C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784E8A-33CB-12A1-4FD6-6E34F734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015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6D36D12-24D4-7386-05D4-EC2963E10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BC55286-DFB0-5377-7993-91C525714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FC299C-2E42-FEDB-9741-FB7A8F5FC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430995-224F-4A49-BE9D-2F680228FC21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DE2671-20CA-A4F0-2D0E-4DA2CE708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77D53C-4D7D-B8D5-36CF-165B108D8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37DC7-3AF5-4DB0-B4A4-4F45A9E663F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8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D3B9984-4D8F-2093-5C45-B39AEB506B7C}"/>
              </a:ext>
            </a:extLst>
          </p:cNvPr>
          <p:cNvCxnSpPr/>
          <p:nvPr/>
        </p:nvCxnSpPr>
        <p:spPr>
          <a:xfrm>
            <a:off x="0" y="636104"/>
            <a:ext cx="11867322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 6" descr="Ein Bild, das Logo enthält.&#10;&#10;Automatisch generierte Beschreibung">
            <a:extLst>
              <a:ext uri="{FF2B5EF4-FFF2-40B4-BE49-F238E27FC236}">
                <a16:creationId xmlns:a16="http://schemas.microsoft.com/office/drawing/2014/main" id="{2A73785C-C64E-B761-98FD-2D32A84E64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125" y="89458"/>
            <a:ext cx="1357126" cy="457188"/>
          </a:xfrm>
          <a:prstGeom prst="rect">
            <a:avLst/>
          </a:prstGeom>
        </p:spPr>
      </p:pic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0A81F479-0B5A-7945-901D-2229A9B1E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1896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175B8FA0-6B80-0778-B48E-C244EF6C4E6E}"/>
              </a:ext>
            </a:extLst>
          </p:cNvPr>
          <p:cNvSpPr txBox="1"/>
          <p:nvPr/>
        </p:nvSpPr>
        <p:spPr>
          <a:xfrm>
            <a:off x="1030886" y="1112722"/>
            <a:ext cx="98055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6600" b="1" dirty="0">
                <a:solidFill>
                  <a:srgbClr val="FF6A00"/>
                </a:solidFill>
                <a:latin typeface="Inter" panose="02000503000000020004" pitchFamily="2" charset="0"/>
              </a:rPr>
              <a:t>Next-Gen Network Intrusion </a:t>
            </a:r>
            <a:r>
              <a:rPr lang="de-DE" sz="6600" b="1" dirty="0" err="1">
                <a:solidFill>
                  <a:srgbClr val="FF6A00"/>
                </a:solidFill>
                <a:latin typeface="Inter" panose="02000503000000020004" pitchFamily="2" charset="0"/>
              </a:rPr>
              <a:t>Detection</a:t>
            </a:r>
            <a:endParaRPr lang="en-US" sz="66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9F12D1-B971-CF82-01B6-4687A89C2F6B}"/>
              </a:ext>
            </a:extLst>
          </p:cNvPr>
          <p:cNvSpPr txBox="1"/>
          <p:nvPr/>
        </p:nvSpPr>
        <p:spPr>
          <a:xfrm>
            <a:off x="3023633" y="4982835"/>
            <a:ext cx="5820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By Noah </a:t>
            </a:r>
            <a:r>
              <a:rPr lang="en-US" dirty="0" err="1"/>
              <a:t>Raupold</a:t>
            </a:r>
            <a:r>
              <a:rPr lang="en-US" dirty="0"/>
              <a:t>, </a:t>
            </a:r>
            <a:r>
              <a:rPr lang="de-DE" dirty="0"/>
              <a:t>Mohammad </a:t>
            </a:r>
            <a:r>
              <a:rPr lang="de-DE" dirty="0" err="1"/>
              <a:t>Ayoubi</a:t>
            </a:r>
            <a:r>
              <a:rPr lang="en-US" dirty="0"/>
              <a:t>, Jonathan Berwind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D9FBF-6F5F-5CFC-B8A0-29355773639B}"/>
              </a:ext>
            </a:extLst>
          </p:cNvPr>
          <p:cNvSpPr txBox="1"/>
          <p:nvPr/>
        </p:nvSpPr>
        <p:spPr>
          <a:xfrm>
            <a:off x="2661060" y="3712997"/>
            <a:ext cx="68698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Self-Supervised Tabular Transformers &amp; </a:t>
            </a:r>
            <a:r>
              <a:rPr lang="en-US" sz="2000" dirty="0" err="1"/>
              <a:t>SwiGLU</a:t>
            </a:r>
            <a:r>
              <a:rPr lang="en-US" sz="2000" dirty="0"/>
              <a:t> Architecture</a:t>
            </a:r>
            <a:endParaRPr lang="en-DE" sz="2000" b="1" u="sng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07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61D47-19FB-187E-FEAD-430ADA6B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18A7DC5-33BF-0B46-F37D-A9D8752276F1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56F799B4-EED7-848A-DA05-801DBF32D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32948BB-5800-FB35-22EA-5A5ACBC1FC13}"/>
              </a:ext>
            </a:extLst>
          </p:cNvPr>
          <p:cNvSpPr txBox="1"/>
          <p:nvPr/>
        </p:nvSpPr>
        <p:spPr>
          <a:xfrm>
            <a:off x="915765" y="100051"/>
            <a:ext cx="7102819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Project Objective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58EAD6CE-D079-E809-C0D8-69BCDFFA1170}"/>
              </a:ext>
            </a:extLst>
          </p:cNvPr>
          <p:cNvSpPr txBox="1"/>
          <p:nvPr/>
        </p:nvSpPr>
        <p:spPr>
          <a:xfrm>
            <a:off x="915766" y="1547274"/>
            <a:ext cx="9872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 robust classifier for TCP network traffic anomalies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Connection features (Duration, Service, Bytes, Flags)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Classify traffic into 5 classes: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(safe traffic)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DoS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(Denial of Service)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Probe </a:t>
            </a:r>
            <a:r>
              <a:rPr lang="en-US" altLang="en-US" sz="2400" dirty="0">
                <a:latin typeface="Arial" panose="020B0604020202020204" pitchFamily="34" charset="0"/>
              </a:rPr>
              <a:t>(Scanning)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U2</a:t>
            </a:r>
            <a:r>
              <a:rPr lang="en-US" altLang="en-US" sz="2400" b="1" dirty="0">
                <a:latin typeface="Arial" panose="020B0604020202020204" pitchFamily="34" charset="0"/>
              </a:rPr>
              <a:t>R </a:t>
            </a:r>
            <a:r>
              <a:rPr lang="en-US" altLang="en-US" sz="2400" dirty="0">
                <a:latin typeface="Arial" panose="020B0604020202020204" pitchFamily="34" charset="0"/>
              </a:rPr>
              <a:t>(Unauthorized Access to Local Superuser)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R2L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(Unauthorized Access from Remote)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0E0B8E1-9EA1-FB97-1410-A212FA459660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1094EF-72FD-9045-D99E-318FC522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32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3EBA9-75F0-8124-2738-C7F80171B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05F986-C6B5-D722-D674-510E9B2E1D0E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6F5F573B-5CFC-E2D3-B15B-317435FCB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60ECF213-B1CF-0563-13B6-2192437C485D}"/>
              </a:ext>
            </a:extLst>
          </p:cNvPr>
          <p:cNvSpPr txBox="1"/>
          <p:nvPr/>
        </p:nvSpPr>
        <p:spPr>
          <a:xfrm>
            <a:off x="915765" y="100051"/>
            <a:ext cx="7102819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Data Analysis &amp; Challenges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833ABE6-B9D1-7472-59F6-BFA360EBFA72}"/>
              </a:ext>
            </a:extLst>
          </p:cNvPr>
          <p:cNvSpPr txBox="1"/>
          <p:nvPr/>
        </p:nvSpPr>
        <p:spPr>
          <a:xfrm>
            <a:off x="915766" y="1547274"/>
            <a:ext cx="9872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 Problem: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Class Imbalance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Distribution Analysis: The dataset is highly skewed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</a:t>
            </a:r>
            <a:r>
              <a:rPr lang="en-US" altLang="en-US" sz="2400" dirty="0">
                <a:latin typeface="Arial" panose="020B0604020202020204" pitchFamily="34" charset="0"/>
              </a:rPr>
              <a:t>/DoS &gt; 98% of data</a:t>
            </a:r>
          </a:p>
          <a:p>
            <a:pPr marL="1257300" lvl="2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U2R/R2</a:t>
            </a:r>
            <a:r>
              <a:rPr lang="en-US" altLang="en-US" sz="2400" dirty="0">
                <a:latin typeface="Arial" panose="020B0604020202020204" pitchFamily="34" charset="0"/>
              </a:rPr>
              <a:t>L: &lt;0.5%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 Bi</a:t>
            </a:r>
            <a:r>
              <a:rPr lang="en-US" altLang="en-US" sz="2400" b="1" dirty="0">
                <a:latin typeface="Arial" panose="020B0604020202020204" pitchFamily="34" charset="0"/>
              </a:rPr>
              <a:t>as: </a:t>
            </a:r>
            <a:r>
              <a:rPr lang="en-US" altLang="en-US" sz="2400" dirty="0">
                <a:latin typeface="Arial" panose="020B0604020202020204" pitchFamily="34" charset="0"/>
              </a:rPr>
              <a:t>Standard statistical models favor majority classes to minimize global loss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Security Risk: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on “Normal” traffic masks the failure to detect critical intrusions (False Negatives)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4D8EACF-61BD-5B7C-9452-19A1B4F7C99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75EE0-BE79-34CD-1C69-0FFC0290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74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EF93-CBE1-1241-A6B4-2E1E7B50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F0C6418-CE50-F7A2-9C60-1710A9360F45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644A9EE2-9E6B-D7DE-3F14-57DB6AB1D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223F5C64-DF79-DAA4-9C50-C1974D3A2BA1}"/>
              </a:ext>
            </a:extLst>
          </p:cNvPr>
          <p:cNvSpPr txBox="1"/>
          <p:nvPr/>
        </p:nvSpPr>
        <p:spPr>
          <a:xfrm>
            <a:off x="915765" y="100051"/>
            <a:ext cx="598795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Imbalanced training Data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1585CDA-9722-1C9E-B57F-44E681B0C40A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4071D7-5FEE-45BD-EFB8-26C2AF464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4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2138CF0-AFC3-1496-F783-2FA85E9A4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765" y="931844"/>
            <a:ext cx="9640645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08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8E43-65D6-F9E8-72F4-2DD7352E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D6C2C20-583D-666C-F414-B67386856361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C7CC11E6-1831-2FD1-AE2A-1E2E3F3E9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B97909B-452C-419E-29F4-EDA67544FCEC}"/>
              </a:ext>
            </a:extLst>
          </p:cNvPr>
          <p:cNvSpPr txBox="1"/>
          <p:nvPr/>
        </p:nvSpPr>
        <p:spPr>
          <a:xfrm>
            <a:off x="915766" y="92632"/>
            <a:ext cx="8941667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Baseline Analysis: Logistic Regression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C3DD060-C6B4-4980-1CC9-C292173B17F1}"/>
              </a:ext>
            </a:extLst>
          </p:cNvPr>
          <p:cNvSpPr txBox="1"/>
          <p:nvPr/>
        </p:nvSpPr>
        <p:spPr>
          <a:xfrm>
            <a:off x="915766" y="1547274"/>
            <a:ext cx="987220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Baseline Model: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Global Accuracy: </a:t>
            </a:r>
            <a:r>
              <a:rPr lang="en-US" sz="2400" dirty="0"/>
              <a:t>High accuracy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Recall on Minority Classes (U2R): </a:t>
            </a:r>
            <a:r>
              <a:rPr lang="en-US" altLang="en-US" sz="2400" dirty="0">
                <a:latin typeface="Arial" panose="020B0604020202020204" pitchFamily="34" charset="0"/>
              </a:rPr>
              <a:t>&lt;50% 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Conclusion: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baseline model </a:t>
            </a:r>
            <a:r>
              <a:rPr lang="en-US" altLang="en-US" sz="2400" dirty="0">
                <a:latin typeface="Arial" panose="020B0604020202020204" pitchFamily="34" charset="0"/>
              </a:rPr>
              <a:t>fails to generalize on sparse data. Accuracy is an unsuitable metric this specific security domain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035EFB7-D92E-E583-9000-63C11BB12F17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43DB62-3A30-DE66-DBF8-AEE1BA15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64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1ACF-3696-1D51-FC02-F74C79D81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80E93E9-5EE3-4D5C-F554-40AD1ECB2465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A83C0910-3B8A-6779-997C-622A13253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1572543E-CA5F-CD46-4BFB-80AA0FBB831E}"/>
              </a:ext>
            </a:extLst>
          </p:cNvPr>
          <p:cNvSpPr txBox="1"/>
          <p:nvPr/>
        </p:nvSpPr>
        <p:spPr>
          <a:xfrm>
            <a:off x="915766" y="92632"/>
            <a:ext cx="8941667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Baseline Analysis: Logistic Regression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4402896-71D4-E953-3177-20459AEF25E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5E29EE-80F3-B2FB-DE09-A99493A5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6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2E9B478-443F-DEC2-D17C-62AA990F0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6691" y="911103"/>
            <a:ext cx="5487410" cy="479725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7F2DD626-3458-4AB2-2DEF-4BCD875F4F34}"/>
              </a:ext>
            </a:extLst>
          </p:cNvPr>
          <p:cNvSpPr txBox="1"/>
          <p:nvPr/>
        </p:nvSpPr>
        <p:spPr>
          <a:xfrm>
            <a:off x="915766" y="1280710"/>
            <a:ext cx="20987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Mathews Correlation Coefficient: </a:t>
            </a:r>
            <a:r>
              <a:rPr lang="en-US" dirty="0"/>
              <a:t>0.6934</a:t>
            </a:r>
          </a:p>
          <a:p>
            <a:endParaRPr lang="en-US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798BAC8-3E57-3A84-7094-247F6C8FD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37" y="2930401"/>
            <a:ext cx="4711662" cy="233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8771-3495-6A0E-A7F1-47FD42E4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737B2D6-73AF-43ED-9D60-EC4D55D807F9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D5284524-8DB5-AEA3-A8AA-B3AF35786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CFDD5965-485D-14E5-368C-251B66FF2C08}"/>
              </a:ext>
            </a:extLst>
          </p:cNvPr>
          <p:cNvSpPr txBox="1"/>
          <p:nvPr/>
        </p:nvSpPr>
        <p:spPr>
          <a:xfrm>
            <a:off x="915765" y="100051"/>
            <a:ext cx="9755584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Our Solution: Tabular Vision Transformer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441AE78-0C3E-0482-5BAA-64C67A9C16C5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Architecture Shift: </a:t>
            </a:r>
            <a:r>
              <a:rPr lang="en-US" altLang="en-US" sz="2400" dirty="0">
                <a:latin typeface="Arial" panose="020B0604020202020204" pitchFamily="34" charset="0"/>
              </a:rPr>
              <a:t>Transition from linear models to Deep Learning with Attention Mechanisms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Core Model: Tabular </a:t>
            </a:r>
            <a:r>
              <a:rPr lang="en-US" altLang="en-US" sz="2400" b="1" dirty="0" err="1">
                <a:latin typeface="Arial" panose="020B0604020202020204" pitchFamily="34" charset="0"/>
              </a:rPr>
              <a:t>ViT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latin typeface="Arial" panose="020B0604020202020204" pitchFamily="34" charset="0"/>
              </a:rPr>
              <a:t>(Vision Transformer applied to tabular data)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Feature Embedding: </a:t>
            </a:r>
            <a:r>
              <a:rPr lang="en-US" altLang="en-US" sz="2400" dirty="0">
                <a:latin typeface="Arial" panose="020B0604020202020204" pitchFamily="34" charset="0"/>
              </a:rPr>
              <a:t>Converting continuous and categorial features into dense vector embeddings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Self-Attention: </a:t>
            </a:r>
            <a:r>
              <a:rPr lang="en-US" altLang="en-US" sz="2400" dirty="0">
                <a:latin typeface="Arial" panose="020B0604020202020204" pitchFamily="34" charset="0"/>
              </a:rPr>
              <a:t>Enabling the model to learn non-linear dependencies and context between features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C66DD25-F24D-6B79-B275-3E0E909E567A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25389B-F5BC-DCAF-2043-54996C466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803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0E2E6-24F6-BCCF-F322-35BA5B2E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7ACA1A0-C685-E36C-69CE-ABF2306194E3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5A4EAA86-D3FD-8728-2916-5A082D398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9651C9B3-87FF-E3D4-F3E8-1559EDF6B144}"/>
              </a:ext>
            </a:extLst>
          </p:cNvPr>
          <p:cNvSpPr txBox="1"/>
          <p:nvPr/>
        </p:nvSpPr>
        <p:spPr>
          <a:xfrm>
            <a:off x="915764" y="100051"/>
            <a:ext cx="10438035" cy="1415772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Training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Strategy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: Self-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Supervised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Learning (DINO)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4912E30-4D15-E977-6522-6F06DB1BB0B5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Method: DINO </a:t>
            </a:r>
            <a:r>
              <a:rPr lang="en-US" altLang="en-US" sz="2400" dirty="0">
                <a:latin typeface="Arial" panose="020B0604020202020204" pitchFamily="34" charset="0"/>
              </a:rPr>
              <a:t>(Self-Distillation with no Labels)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Mechanisms: </a:t>
            </a:r>
            <a:r>
              <a:rPr lang="en-US" altLang="en-US" sz="2400" dirty="0">
                <a:latin typeface="Arial" panose="020B0604020202020204" pitchFamily="34" charset="0"/>
              </a:rPr>
              <a:t>Teacher-Student Architecture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Input: </a:t>
            </a:r>
            <a:r>
              <a:rPr lang="en-US" altLang="en-US" sz="2400" dirty="0">
                <a:latin typeface="Arial" panose="020B0604020202020204" pitchFamily="34" charset="0"/>
              </a:rPr>
              <a:t>Masked views of the data samples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Objective: </a:t>
            </a:r>
            <a:r>
              <a:rPr lang="en-US" altLang="en-US" sz="2400" dirty="0">
                <a:latin typeface="Arial" panose="020B0604020202020204" pitchFamily="34" charset="0"/>
              </a:rPr>
              <a:t>The Student network minimizes the reconstruction loss against the Teacher’s output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Rationale: </a:t>
            </a:r>
            <a:r>
              <a:rPr lang="en-US" altLang="en-US" sz="2400" dirty="0">
                <a:latin typeface="Arial" panose="020B0604020202020204" pitchFamily="34" charset="0"/>
              </a:rPr>
              <a:t>Allows the model to learn the intrinsic manifold of the data and robust feature representation without relying on the sparse labels of attack classes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FFB8DFB-1EDD-6CE6-80D3-683E68F1B033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6CD68-266E-2962-8D21-1D81C397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918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85BA-D650-1DA1-0658-991D5148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F2A044C-ABBB-D40D-1CAB-315F9977F3E1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76F89292-E350-8E86-7C47-34C9E15311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D1938537-124D-50A4-1BC2-73FEDD034978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Classification Head: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SwiGLU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Activation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5F8F654-EC90-5828-3E90-4A46DCA4E4A0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Layer Design: </a:t>
            </a:r>
            <a:r>
              <a:rPr lang="en-US" altLang="en-US" sz="2400" dirty="0">
                <a:latin typeface="Arial" panose="020B0604020202020204" pitchFamily="34" charset="0"/>
              </a:rPr>
              <a:t>Replacing standard </a:t>
            </a:r>
            <a:r>
              <a:rPr lang="en-US" altLang="en-US" sz="2400" dirty="0" err="1">
                <a:latin typeface="Arial" panose="020B0604020202020204" pitchFamily="34" charset="0"/>
              </a:rPr>
              <a:t>ReLUI</a:t>
            </a:r>
            <a:r>
              <a:rPr lang="en-US" altLang="en-US" sz="2400" dirty="0">
                <a:latin typeface="Arial" panose="020B0604020202020204" pitchFamily="34" charset="0"/>
              </a:rPr>
              <a:t> feed-forward networks with </a:t>
            </a:r>
            <a:r>
              <a:rPr lang="en-US" altLang="en-US" sz="2400" dirty="0" err="1">
                <a:latin typeface="Arial" panose="020B0604020202020204" pitchFamily="34" charset="0"/>
              </a:rPr>
              <a:t>SwiGLU</a:t>
            </a:r>
            <a:r>
              <a:rPr lang="en-US" altLang="en-US" sz="2400" dirty="0">
                <a:latin typeface="Arial" panose="020B0604020202020204" pitchFamily="34" charset="0"/>
              </a:rPr>
              <a:t> (Swish Gated Linear Units)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Mathematical Advantage: 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Provides a gating mechanism to control information flow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Improves gradient flow and convergence on deep networks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Function: </a:t>
            </a:r>
            <a:r>
              <a:rPr lang="en-US" altLang="en-US" sz="2400" dirty="0">
                <a:latin typeface="Arial" panose="020B0604020202020204" pitchFamily="34" charset="0"/>
              </a:rPr>
              <a:t>Filters noise in the laten representation before the final </a:t>
            </a:r>
            <a:r>
              <a:rPr lang="en-US" altLang="en-US" sz="2400" dirty="0" err="1">
                <a:latin typeface="Arial" panose="020B0604020202020204" pitchFamily="34" charset="0"/>
              </a:rPr>
              <a:t>Softmax</a:t>
            </a:r>
            <a:r>
              <a:rPr lang="en-US" altLang="en-US" sz="2400" dirty="0">
                <a:latin typeface="Arial" panose="020B0604020202020204" pitchFamily="34" charset="0"/>
              </a:rPr>
              <a:t> classification layer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37F9AF4-6734-EF0C-E627-C552E365325D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F36456-C69F-6332-2311-817DC378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10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CBE9-431A-7113-8E60-AEAB4F22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5384D72-3F64-82FC-6893-12940CCE3B94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1C1B5ABB-89F2-FC14-BCB0-6E5F9BC47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579AA368-96C3-736B-2792-44370B7B22B1}"/>
              </a:ext>
            </a:extLst>
          </p:cNvPr>
          <p:cNvSpPr txBox="1"/>
          <p:nvPr/>
        </p:nvSpPr>
        <p:spPr>
          <a:xfrm>
            <a:off x="915765" y="100051"/>
            <a:ext cx="2083468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Pipeline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0A0A065-687C-4A86-F241-44E2A0BB1147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3C7CDC-345C-616D-8F44-726CD73C3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10</a:t>
            </a:fld>
            <a:endParaRPr lang="en-GB"/>
          </a:p>
        </p:txBody>
      </p:sp>
      <p:pic>
        <p:nvPicPr>
          <p:cNvPr id="3" name="Picture 2" descr="graph TD&#10;    %% Define Styles&#10;    classDef data fill:#e1f5fe,stroke:#01579b,stroke-width:2px,color:#000;&#10;    classDef proc fill:#f3e5f5,stroke:#4a148c,stroke-width:2px,color:#000;&#10;    classDef model fill:#e0f2f1,stroke:#00695c,stroke-width:2px,color:#000;&#10;    classDef loss fill:#fce4ec,stroke:#880e4f,stroke-width:2px,color:#000;&#10;    classDef connection fill:#fff,stroke:#999,stroke-width:1px,stroke-dasharray: 5 5;&#10;&#10;    subgraph Data_Pipeline [&quot;1. Data &amp; Preprocessing Pipeline&quot;]&#10;        direction TB&#10;        RAW[(&quot;Raw Data&lt;br/&gt;(network_connections.csv)&quot;)]:::data&#10;        SPLIT[(&quot;Train/Test Split&quot;)]:::proc&#10;        &#10;        subgraph SOTA_Prep [&quot;SOTA Preprocessing&quot;]&#10;            LOG[&quot;Log Transform&lt;br/&gt;(Skewed Features)&quot;]:::proc&#10;            FEAT_ENG[&quot;Feature Engineering&lt;br/&gt;(Byte Ratio, Srv Diff)&quot;]:::proc&#10;            SCALE[&quot;StandardScaler&quot;]:::proc&#10;            ENCODE[&quot;Label/Cat Encoding&quot;]:::proc&#10;        end&#10;        &#10;        GRAM_ANALYSIS[&quot;Gram Matrix Analysis&lt;br/&gt;(Compute Feature Clusters)&quot;]:::proc&#10;        &#10;        RAW --&gt; SPLIT&#10;        SPLIT --&gt; LOG&#10;        LOG --&gt; FEAT_ENG --&gt; SCALE --&gt; ENCODE&#10;        ENCODE --&gt; GRAM_ANALYSIS&#10;    end&#10;&#10;    subgraph Meta_Features [&quot;2. Meta-Generation&quot;]&#10;        NCA[&quot;Neighborhood Components Analysis&lt;br/&gt;(NCA)&quot;]:::proc&#10;        ISO[&quot;Isolation Forest&lt;br/&gt;(Anomaly Score)&quot;]:::proc&#10;        META_TENSOR[(&quot;Meta Targets Tensor&quot;)]:::data&#10;        &#10;        ENCODE --&gt; NCA &amp; ISO&#10;        NCA &amp; ISO --&gt; META_TENSOR&#10;    end&#10;&#10;    subgraph Phase1 [&quot;3. Phase 1: Pre-Training (TabularViT)&quot;]&#10;        direction TB&#10;        COLLATOR[&quot;GramMaskingCollator&lt;br/&gt;(Uses Gram Clusters + Noise)&quot;]:::proc&#10;        &#10;        subgraph Student_Teacher [&quot;Student-Teacher Framework&quot;]&#10;            STUDENT[[&quot;Student Encoder&lt;br/&gt;(TabularViT_SOTA)&quot;]]:::model&#10;            TEACHER[[&quot;Teacher Encoder&lt;br/&gt;(EMA Update)&quot;]]:::model&#10;            &#10;            HEADS_S[&quot;Heads:&lt;br/&gt;DINO + MIM&quot;]:::model&#10;            HEADS_T[&quot;Heads:&lt;br/&gt;DINO&quot;]:::model&#10;        end&#10;        &#10;        subgraph Losses_P1 [&quot;Gram Anchoring Losses&quot;]&#10;            L_DINO{{&quot;1. DINO Loss&lt;br/&gt;(Global / Sinkhorn)&quot;}}:::loss&#10;            L_MIM{{&quot;2. MIM Loss&lt;br/&gt;(Reconstruction)&quot;}}:::loss&#10;            L_KOLEO{{&quot;3. KoLeo Loss&lt;br/&gt;(Feature Diversity)&quot;}}:::loss&#10;            L_GRAM{{&quot;4. Gram Matrix Loss&lt;br/&gt;(Structure/Correlation)&quot;}}:::loss&#10;        end&#10;        &#10;        ENCODE --&gt; COLLATOR&#10;        GRAM_ANALYSIS --&gt; COLLATOR&#10;        META_TENSOR --&gt; COLLATOR&#10;        &#10;        COLLATOR --&gt; STUDENT&#10;        COLLATOR --&gt; TEACHER&#10;        &#10;        STUDENT --&gt; HEADS_S&#10;        TEACHER --&gt; HEADS_T&#10;        &#10;        HEADS_S --&gt; L_DINO &amp; L_MIM &amp; L_KOLEO &amp; L_GRAM&#10;        HEADS_T --&gt; L_DINO &amp; L_GRAM&#10;    end&#10;&#10;    subgraph Phase3 [&quot;4. Phase 3: Fine-Tuning (Deep SwiGLU)&quot;]&#10;        direction TB&#10;        ENC_FROZEN[&quot;Encoder Features&lt;br/&gt;(Partial Unfreeze Last Layer)&quot;]:::model&#10;        &#10;        subgraph SwiGLU_Net [&quot;Deep SwiGLU Classifier&quot;]&#10;            INPUT_PROJ[&quot;Input Projection&quot;]:::model&#10;            BLOCKS[&quot;SwiGLU Blocks&lt;br/&gt;(Swish-Gate * Value)&quot;]:::model&#10;            RMS[&quot;RMSNorm&quot;]:::model&#10;            LINEAR[&quot;Linear Head&quot;]:::model&#10;        end&#10;        &#10;        FOCAL{{&quot;Weighted Focal Loss&lt;br/&gt;(Imbalance Optimized)&quot;}}:::loss&#10;        &#10;        STUDENT -.-&gt; ENC_FROZEN&#10;        ENC_FROZEN --&gt; INPUT_PROJ --&gt; BLOCKS --&gt; RMS --&gt; LINEAR&#10;        LINEAR --&gt; FOCAL&#10;    end&#10;&#10;    subgraph Evaluation [&quot;5. Evaluation&quot;]&#10;        TEST_SET[(&quot;Test Set&quot;)]:::data&#10;        PROBE[&quot;SwiGLU Probe (Inference)&quot;]:::model&#10;        METRICS[&quot;Classification Report&lt;br/&gt;Confusion Matrix&quot;]:::proc&#10;        &#10;        TEST_SET --&gt; PROBE&#10;        LINEAR -.-&gt; PROBE&#10;        PROBE --&gt; METRICS&#10;    end&#10;&#10;    %% Edge Labels&#10;    L_GRAM ---|&quot;Matches Correlation Matrix&quot;| HEADS_T">
            <a:extLst>
              <a:ext uri="{FF2B5EF4-FFF2-40B4-BE49-F238E27FC236}">
                <a16:creationId xmlns:a16="http://schemas.microsoft.com/office/drawing/2014/main" id="{4BBAADE6-1A42-92A1-BF9D-2D581A6D0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20" r="26178" b="61080"/>
          <a:stretch>
            <a:fillRect/>
          </a:stretch>
        </p:blipFill>
        <p:spPr bwMode="auto">
          <a:xfrm>
            <a:off x="4070446" y="221304"/>
            <a:ext cx="3082566" cy="570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45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71540-2197-9C3C-EE73-5D76A662C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2E5C7C6-D3E4-D873-A2DE-31CEA452CCBC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C951CBCA-BB5D-FAC9-1A4B-034952A4C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61C9CC4B-FF20-BA60-FDB3-CDFCE936EEB1}"/>
              </a:ext>
            </a:extLst>
          </p:cNvPr>
          <p:cNvSpPr txBox="1"/>
          <p:nvPr/>
        </p:nvSpPr>
        <p:spPr>
          <a:xfrm>
            <a:off x="915764" y="100051"/>
            <a:ext cx="1963581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Model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F8A5551-EF45-A34F-8F4B-10F88F8DFCF6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082D38-E284-7467-7C31-22DCDF33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11</a:t>
            </a:fld>
            <a:endParaRPr lang="en-GB"/>
          </a:p>
        </p:txBody>
      </p:sp>
      <p:pic>
        <p:nvPicPr>
          <p:cNvPr id="1026" name="Picture 2" descr="graph TD&#10;    %% Define Styles&#10;    classDef data fill:#e1f5fe,stroke:#01579b,stroke-width:2px,color:#000;&#10;    classDef proc fill:#f3e5f5,stroke:#4a148c,stroke-width:2px,color:#000;&#10;    classDef model fill:#e0f2f1,stroke:#00695c,stroke-width:2px,color:#000;&#10;    classDef loss fill:#fce4ec,stroke:#880e4f,stroke-width:2px,color:#000;&#10;    classDef connection fill:#fff,stroke:#999,stroke-width:1px,stroke-dasharray: 5 5;&#10;&#10;    subgraph Data_Pipeline [&quot;1. Data &amp; Preprocessing Pipeline&quot;]&#10;        direction TB&#10;        RAW[(&quot;Raw Data&lt;br/&gt;(network_connections.csv)&quot;)]:::data&#10;        SPLIT[(&quot;Train/Test Split&quot;)]:::proc&#10;        &#10;        subgraph SOTA_Prep [&quot;SOTA Preprocessing&quot;]&#10;            LOG[&quot;Log Transform&lt;br/&gt;(Skewed Features)&quot;]:::proc&#10;            FEAT_ENG[&quot;Feature Engineering&lt;br/&gt;(Byte Ratio, Srv Diff)&quot;]:::proc&#10;            SCALE[&quot;StandardScaler&quot;]:::proc&#10;            ENCODE[&quot;Label/Cat Encoding&quot;]:::proc&#10;        end&#10;        &#10;        GRAM_ANALYSIS[&quot;Gram Matrix Analysis&lt;br/&gt;(Compute Feature Clusters)&quot;]:::proc&#10;        &#10;        RAW --&gt; SPLIT&#10;        SPLIT --&gt; LOG&#10;        LOG --&gt; FEAT_ENG --&gt; SCALE --&gt; ENCODE&#10;        ENCODE --&gt; GRAM_ANALYSIS&#10;    end&#10;&#10;    subgraph Meta_Features [&quot;2. Meta-Generation&quot;]&#10;        NCA[&quot;Neighborhood Components Analysis&lt;br/&gt;(NCA)&quot;]:::proc&#10;        ISO[&quot;Isolation Forest&lt;br/&gt;(Anomaly Score)&quot;]:::proc&#10;        META_TENSOR[(&quot;Meta Targets Tensor&quot;)]:::data&#10;        &#10;        ENCODE --&gt; NCA &amp; ISO&#10;        NCA &amp; ISO --&gt; META_TENSOR&#10;    end&#10;&#10;    subgraph Phase1 [&quot;3. Phase 1: Pre-Training (TabularViT)&quot;]&#10;        direction TB&#10;        COLLATOR[&quot;GramMaskingCollator&lt;br/&gt;(Uses Gram Clusters + Noise)&quot;]:::proc&#10;        &#10;        subgraph Student_Teacher [&quot;Student-Teacher Framework&quot;]&#10;            STUDENT[[&quot;Student Encoder&lt;br/&gt;(TabularViT_SOTA)&quot;]]:::model&#10;            TEACHER[[&quot;Teacher Encoder&lt;br/&gt;(EMA Update)&quot;]]:::model&#10;            &#10;            HEADS_S[&quot;Heads:&lt;br/&gt;DINO + MIM&quot;]:::model&#10;            HEADS_T[&quot;Heads:&lt;br/&gt;DINO&quot;]:::model&#10;        end&#10;        &#10;        subgraph Losses_P1 [&quot;Gram Anchoring Losses&quot;]&#10;            L_DINO{{&quot;1. DINO Loss&lt;br/&gt;(Global / Sinkhorn)&quot;}}:::loss&#10;            L_MIM{{&quot;2. MIM Loss&lt;br/&gt;(Reconstruction)&quot;}}:::loss&#10;            L_KOLEO{{&quot;3. KoLeo Loss&lt;br/&gt;(Feature Diversity)&quot;}}:::loss&#10;            L_GRAM{{&quot;4. Gram Matrix Loss&lt;br/&gt;(Structure/Correlation)&quot;}}:::loss&#10;        end&#10;        &#10;        ENCODE --&gt; COLLATOR&#10;        GRAM_ANALYSIS --&gt; COLLATOR&#10;        META_TENSOR --&gt; COLLATOR&#10;        &#10;        COLLATOR --&gt; STUDENT&#10;        COLLATOR --&gt; TEACHER&#10;        &#10;        STUDENT --&gt; HEADS_S&#10;        TEACHER --&gt; HEADS_T&#10;        &#10;        HEADS_S --&gt; L_DINO &amp; L_MIM &amp; L_KOLEO &amp; L_GRAM&#10;        HEADS_T --&gt; L_DINO &amp; L_GRAM&#10;    end&#10;&#10;    subgraph Phase3 [&quot;4. Phase 3: Fine-Tuning (Deep SwiGLU)&quot;]&#10;        direction TB&#10;        ENC_FROZEN[&quot;Encoder Features&lt;br/&gt;(Partial Unfreeze Last Layer)&quot;]:::model&#10;        &#10;        subgraph SwiGLU_Net [&quot;Deep SwiGLU Classifier&quot;]&#10;            INPUT_PROJ[&quot;Input Projection&quot;]:::model&#10;            BLOCKS[&quot;SwiGLU Blocks&lt;br/&gt;(Swish-Gate * Value)&quot;]:::model&#10;            RMS[&quot;RMSNorm&quot;]:::model&#10;            LINEAR[&quot;Linear Head&quot;]:::model&#10;        end&#10;        &#10;        FOCAL{{&quot;Weighted Focal Loss&lt;br/&gt;(Imbalance Optimized)&quot;}}:::loss&#10;        &#10;        STUDENT -.-&gt; ENC_FROZEN&#10;        ENC_FROZEN --&gt; INPUT_PROJ --&gt; BLOCKS --&gt; RMS --&gt; LINEAR&#10;        LINEAR --&gt; FOCAL&#10;    end&#10;&#10;    subgraph Evaluation [&quot;5. Evaluation&quot;]&#10;        TEST_SET[(&quot;Test Set&quot;)]:::data&#10;        PROBE[&quot;SwiGLU Probe (Inference)&quot;]:::model&#10;        METRICS[&quot;Classification Report&lt;br/&gt;Confusion Matrix&quot;]:::proc&#10;        &#10;        TEST_SET --&gt; PROBE&#10;        LINEAR -.-&gt; PROBE&#10;        PROBE --&gt; METRICS&#10;    end&#10;&#10;    %% Edge Labels&#10;    L_GRAM ---|&quot;Matches Correlation Matrix&quot;| HEADS_T">
            <a:extLst>
              <a:ext uri="{FF2B5EF4-FFF2-40B4-BE49-F238E27FC236}">
                <a16:creationId xmlns:a16="http://schemas.microsoft.com/office/drawing/2014/main" id="{B3B0A219-2A4D-8EB7-9607-CC2CBBFF1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05" r="84547"/>
          <a:stretch>
            <a:fillRect/>
          </a:stretch>
        </p:blipFill>
        <p:spPr bwMode="auto">
          <a:xfrm>
            <a:off x="957938" y="1880647"/>
            <a:ext cx="2112571" cy="309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graph TD&#10;    %% Define Styles&#10;    classDef data fill:#e1f5fe,stroke:#01579b,stroke-width:2px,color:#000;&#10;    classDef proc fill:#f3e5f5,stroke:#4a148c,stroke-width:2px,color:#000;&#10;    classDef model fill:#e0f2f1,stroke:#00695c,stroke-width:2px,color:#000;&#10;    classDef loss fill:#fce4ec,stroke:#880e4f,stroke-width:2px,color:#000;&#10;    classDef connection fill:#fff,stroke:#999,stroke-width:1px,stroke-dasharray: 5 5;&#10;&#10;    subgraph Data_Pipeline [&quot;1. Data &amp; Preprocessing Pipeline&quot;]&#10;        direction TB&#10;        RAW[(&quot;Raw Data&lt;br/&gt;(network_connections.csv)&quot;)]:::data&#10;        SPLIT[(&quot;Train/Test Split&quot;)]:::proc&#10;        &#10;        subgraph SOTA_Prep [&quot;SOTA Preprocessing&quot;]&#10;            LOG[&quot;Log Transform&lt;br/&gt;(Skewed Features)&quot;]:::proc&#10;            FEAT_ENG[&quot;Feature Engineering&lt;br/&gt;(Byte Ratio, Srv Diff)&quot;]:::proc&#10;            SCALE[&quot;StandardScaler&quot;]:::proc&#10;            ENCODE[&quot;Label/Cat Encoding&quot;]:::proc&#10;        end&#10;        &#10;        GRAM_ANALYSIS[&quot;Gram Matrix Analysis&lt;br/&gt;(Compute Feature Clusters)&quot;]:::proc&#10;        &#10;        RAW --&gt; SPLIT&#10;        SPLIT --&gt; LOG&#10;        LOG --&gt; FEAT_ENG --&gt; SCALE --&gt; ENCODE&#10;        ENCODE --&gt; GRAM_ANALYSIS&#10;    end&#10;&#10;    subgraph Meta_Features [&quot;2. Meta-Generation&quot;]&#10;        NCA[&quot;Neighborhood Components Analysis&lt;br/&gt;(NCA)&quot;]:::proc&#10;        ISO[&quot;Isolation Forest&lt;br/&gt;(Anomaly Score)&quot;]:::proc&#10;        META_TENSOR[(&quot;Meta Targets Tensor&quot;)]:::data&#10;        &#10;        ENCODE --&gt; NCA &amp; ISO&#10;        NCA &amp; ISO --&gt; META_TENSOR&#10;    end&#10;&#10;    subgraph Phase1 [&quot;3. Phase 1: Pre-Training (TabularViT)&quot;]&#10;        direction TB&#10;        COLLATOR[&quot;GramMaskingCollator&lt;br/&gt;(Uses Gram Clusters + Noise)&quot;]:::proc&#10;        &#10;        subgraph Student_Teacher [&quot;Student-Teacher Framework&quot;]&#10;            STUDENT[[&quot;Student Encoder&lt;br/&gt;(TabularViT_SOTA)&quot;]]:::model&#10;            TEACHER[[&quot;Teacher Encoder&lt;br/&gt;(EMA Update)&quot;]]:::model&#10;            &#10;            HEADS_S[&quot;Heads:&lt;br/&gt;DINO + MIM&quot;]:::model&#10;            HEADS_T[&quot;Heads:&lt;br/&gt;DINO&quot;]:::model&#10;        end&#10;        &#10;        subgraph Losses_P1 [&quot;Gram Anchoring Losses&quot;]&#10;            L_DINO{{&quot;1. DINO Loss&lt;br/&gt;(Global / Sinkhorn)&quot;}}:::loss&#10;            L_MIM{{&quot;2. MIM Loss&lt;br/&gt;(Reconstruction)&quot;}}:::loss&#10;            L_KOLEO{{&quot;3. KoLeo Loss&lt;br/&gt;(Feature Diversity)&quot;}}:::loss&#10;            L_GRAM{{&quot;4. Gram Matrix Loss&lt;br/&gt;(Structure/Correlation)&quot;}}:::loss&#10;        end&#10;        &#10;        ENCODE --&gt; COLLATOR&#10;        GRAM_ANALYSIS --&gt; COLLATOR&#10;        META_TENSOR --&gt; COLLATOR&#10;        &#10;        COLLATOR --&gt; STUDENT&#10;        COLLATOR --&gt; TEACHER&#10;        &#10;        STUDENT --&gt; HEADS_S&#10;        TEACHER --&gt; HEADS_T&#10;        &#10;        HEADS_S --&gt; L_DINO &amp; L_MIM &amp; L_KOLEO &amp; L_GRAM&#10;        HEADS_T --&gt; L_DINO &amp; L_GRAM&#10;    end&#10;&#10;    subgraph Phase3 [&quot;4. Phase 3: Fine-Tuning (Deep SwiGLU)&quot;]&#10;        direction TB&#10;        ENC_FROZEN[&quot;Encoder Features&lt;br/&gt;(Partial Unfreeze Last Layer)&quot;]:::model&#10;        &#10;        subgraph SwiGLU_Net [&quot;Deep SwiGLU Classifier&quot;]&#10;            INPUT_PROJ[&quot;Input Projection&quot;]:::model&#10;            BLOCKS[&quot;SwiGLU Blocks&lt;br/&gt;(Swish-Gate * Value)&quot;]:::model&#10;            RMS[&quot;RMSNorm&quot;]:::model&#10;            LINEAR[&quot;Linear Head&quot;]:::model&#10;        end&#10;        &#10;        FOCAL{{&quot;Weighted Focal Loss&lt;br/&gt;(Imbalance Optimized)&quot;}}:::loss&#10;        &#10;        STUDENT -.-&gt; ENC_FROZEN&#10;        ENC_FROZEN --&gt; INPUT_PROJ --&gt; BLOCKS --&gt; RMS --&gt; LINEAR&#10;        LINEAR --&gt; FOCAL&#10;    end&#10;&#10;    subgraph Evaluation [&quot;5. Evaluation&quot;]&#10;        TEST_SET[(&quot;Test Set&quot;)]:::data&#10;        PROBE[&quot;SwiGLU Probe (Inference)&quot;]:::model&#10;        METRICS[&quot;Classification Report&lt;br/&gt;Confusion Matrix&quot;]:::proc&#10;        &#10;        TEST_SET --&gt; PROBE&#10;        LINEAR -.-&gt; PROBE&#10;        PROBE --&gt; METRICS&#10;    end&#10;&#10;    %% Edge Labels&#10;    L_GRAM ---|&quot;Matches Correlation Matrix&quot;| HEADS_T">
            <a:extLst>
              <a:ext uri="{FF2B5EF4-FFF2-40B4-BE49-F238E27FC236}">
                <a16:creationId xmlns:a16="http://schemas.microsoft.com/office/drawing/2014/main" id="{BC7F0432-422A-75C7-0503-02B88D566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1" t="45333" b="16874"/>
          <a:stretch>
            <a:fillRect/>
          </a:stretch>
        </p:blipFill>
        <p:spPr bwMode="auto">
          <a:xfrm>
            <a:off x="5621959" y="587160"/>
            <a:ext cx="7393408" cy="474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graph TD&#10;    %% Define Styles&#10;    classDef data fill:#e1f5fe,stroke:#01579b,stroke-width:2px,color:#000;&#10;    classDef proc fill:#f3e5f5,stroke:#4a148c,stroke-width:2px,color:#000;&#10;    classDef model fill:#e0f2f1,stroke:#00695c,stroke-width:2px,color:#000;&#10;    classDef loss fill:#fce4ec,stroke:#880e4f,stroke-width:2px,color:#000;&#10;    classDef connection fill:#fff,stroke:#999,stroke-width:1px,stroke-dasharray: 5 5;&#10;&#10;    subgraph Data_Pipeline [&quot;1. Data &amp; Preprocessing Pipeline&quot;]&#10;        direction TB&#10;        RAW[(&quot;Raw Data&lt;br/&gt;(network_connections.csv)&quot;)]:::data&#10;        SPLIT[(&quot;Train/Test Split&quot;)]:::proc&#10;        &#10;        subgraph SOTA_Prep [&quot;SOTA Preprocessing&quot;]&#10;            LOG[&quot;Log Transform&lt;br/&gt;(Skewed Features)&quot;]:::proc&#10;            FEAT_ENG[&quot;Feature Engineering&lt;br/&gt;(Byte Ratio, Srv Diff)&quot;]:::proc&#10;            SCALE[&quot;StandardScaler&quot;]:::proc&#10;            ENCODE[&quot;Label/Cat Encoding&quot;]:::proc&#10;        end&#10;        &#10;        GRAM_ANALYSIS[&quot;Gram Matrix Analysis&lt;br/&gt;(Compute Feature Clusters)&quot;]:::proc&#10;        &#10;        RAW --&gt; SPLIT&#10;        SPLIT --&gt; LOG&#10;        LOG --&gt; FEAT_ENG --&gt; SCALE --&gt; ENCODE&#10;        ENCODE --&gt; GRAM_ANALYSIS&#10;    end&#10;&#10;    subgraph Meta_Features [&quot;2. Meta-Generation&quot;]&#10;        NCA[&quot;Neighborhood Components Analysis&lt;br/&gt;(NCA)&quot;]:::proc&#10;        ISO[&quot;Isolation Forest&lt;br/&gt;(Anomaly Score)&quot;]:::proc&#10;        META_TENSOR[(&quot;Meta Targets Tensor&quot;)]:::data&#10;        &#10;        ENCODE --&gt; NCA &amp; ISO&#10;        NCA &amp; ISO --&gt; META_TENSOR&#10;    end&#10;&#10;    subgraph Phase1 [&quot;3. Phase 1: Pre-Training (TabularViT)&quot;]&#10;        direction TB&#10;        COLLATOR[&quot;GramMaskingCollator&lt;br/&gt;(Uses Gram Clusters + Noise)&quot;]:::proc&#10;        &#10;        subgraph Student_Teacher [&quot;Student-Teacher Framework&quot;]&#10;            STUDENT[[&quot;Student Encoder&lt;br/&gt;(TabularViT_SOTA)&quot;]]:::model&#10;            TEACHER[[&quot;Teacher Encoder&lt;br/&gt;(EMA Update)&quot;]]:::model&#10;            &#10;            HEADS_S[&quot;Heads:&lt;br/&gt;DINO + MIM&quot;]:::model&#10;            HEADS_T[&quot;Heads:&lt;br/&gt;DINO&quot;]:::model&#10;        end&#10;        &#10;        subgraph Losses_P1 [&quot;Gram Anchoring Losses&quot;]&#10;            L_DINO{{&quot;1. DINO Loss&lt;br/&gt;(Global / Sinkhorn)&quot;}}:::loss&#10;            L_MIM{{&quot;2. MIM Loss&lt;br/&gt;(Reconstruction)&quot;}}:::loss&#10;            L_KOLEO{{&quot;3. KoLeo Loss&lt;br/&gt;(Feature Diversity)&quot;}}:::loss&#10;            L_GRAM{{&quot;4. Gram Matrix Loss&lt;br/&gt;(Structure/Correlation)&quot;}}:::loss&#10;        end&#10;        &#10;        ENCODE --&gt; COLLATOR&#10;        GRAM_ANALYSIS --&gt; COLLATOR&#10;        META_TENSOR --&gt; COLLATOR&#10;        &#10;        COLLATOR --&gt; STUDENT&#10;        COLLATOR --&gt; TEACHER&#10;        &#10;        STUDENT --&gt; HEADS_S&#10;        TEACHER --&gt; HEADS_T&#10;        &#10;        HEADS_S --&gt; L_DINO &amp; L_MIM &amp; L_KOLEO &amp; L_GRAM&#10;        HEADS_T --&gt; L_DINO &amp; L_GRAM&#10;    end&#10;&#10;    subgraph Phase3 [&quot;4. Phase 3: Fine-Tuning (Deep SwiGLU)&quot;]&#10;        direction TB&#10;        ENC_FROZEN[&quot;Encoder Features&lt;br/&gt;(Partial Unfreeze Last Layer)&quot;]:::model&#10;        &#10;        subgraph SwiGLU_Net [&quot;Deep SwiGLU Classifier&quot;]&#10;            INPUT_PROJ[&quot;Input Projection&quot;]:::model&#10;            BLOCKS[&quot;SwiGLU Blocks&lt;br/&gt;(Swish-Gate * Value)&quot;]:::model&#10;            RMS[&quot;RMSNorm&quot;]:::model&#10;            LINEAR[&quot;Linear Head&quot;]:::model&#10;        end&#10;        &#10;        FOCAL{{&quot;Weighted Focal Loss&lt;br/&gt;(Imbalance Optimized)&quot;}}:::loss&#10;        &#10;        STUDENT -.-&gt; ENC_FROZEN&#10;        ENC_FROZEN --&gt; INPUT_PROJ --&gt; BLOCKS --&gt; RMS --&gt; LINEAR&#10;        LINEAR --&gt; FOCAL&#10;    end&#10;&#10;    subgraph Evaluation [&quot;5. Evaluation&quot;]&#10;        TEST_SET[(&quot;Test Set&quot;)]:::data&#10;        PROBE[&quot;SwiGLU Probe (Inference)&quot;]:::model&#10;        METRICS[&quot;Classification Report&lt;br/&gt;Confusion Matrix&quot;]:::proc&#10;        &#10;        TEST_SET --&gt; PROBE&#10;        LINEAR -.-&gt; PROBE&#10;        PROBE --&gt; METRICS&#10;    end&#10;&#10;    %% Edge Labels&#10;    L_GRAM ---|&quot;Matches Correlation Matrix&quot;| HEADS_T">
            <a:extLst>
              <a:ext uri="{FF2B5EF4-FFF2-40B4-BE49-F238E27FC236}">
                <a16:creationId xmlns:a16="http://schemas.microsoft.com/office/drawing/2014/main" id="{02768D4B-0D59-426A-2E79-9BC655CC3A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43" t="56171" r="68618"/>
          <a:stretch>
            <a:fillRect/>
          </a:stretch>
        </p:blipFill>
        <p:spPr bwMode="auto">
          <a:xfrm>
            <a:off x="3261673" y="0"/>
            <a:ext cx="2192669" cy="692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746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46E8-5FBA-0CE2-60FF-95BCE4904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2DDC57-65AC-3B82-4096-3468FDD6EBBF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98EDFE25-24B2-2E03-C6F6-D5CFF688F0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7625F628-687C-49AB-6498-8E44E601D06C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Binary Classification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Metrics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1D2463D0-D841-9506-E34A-7A514C262205}"/>
              </a:ext>
            </a:extLst>
          </p:cNvPr>
          <p:cNvSpPr txBox="1"/>
          <p:nvPr/>
        </p:nvSpPr>
        <p:spPr>
          <a:xfrm>
            <a:off x="915766" y="1547274"/>
            <a:ext cx="9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nter Light" panose="02000503000000020004"/>
              </a:rPr>
              <a:t>Regression 				vs		 Dinov3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F9BE2F0-FBE0-EFB2-DB0F-927D03977EE4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E7607-FFD7-683B-DA13-41A8991DD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12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E4F2659-514F-8E80-5A7D-2DD0B5CDD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50" y="2555255"/>
            <a:ext cx="5567684" cy="267968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01717D0-B646-96AF-BEC8-D08BD1319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535796"/>
            <a:ext cx="5654040" cy="269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45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56327-C594-9D54-A2A8-637A4855B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A8C0E13-FF37-6372-538B-AF4079D25CF8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5EFE0EE8-1AF2-BEEE-B6B8-5860B9E93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C19E2325-A7AF-553B-A6AD-785D488FDC7A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Evaluation &amp; Perfomance Quality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165BED8-4ACB-C81D-18DC-A94125F50F0E}"/>
              </a:ext>
            </a:extLst>
          </p:cNvPr>
          <p:cNvSpPr txBox="1"/>
          <p:nvPr/>
        </p:nvSpPr>
        <p:spPr>
          <a:xfrm>
            <a:off x="915766" y="1547274"/>
            <a:ext cx="987220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Mathews Correlation Coefficient: </a:t>
            </a:r>
            <a:r>
              <a:rPr lang="en-US" sz="2400" dirty="0"/>
              <a:t>0.7578</a:t>
            </a:r>
            <a:endParaRPr lang="en-US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A6EEE45-F28C-A49E-B31C-F81644140F3D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895876-F957-3EFA-57E8-34299A53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13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72A42C-FA1A-F3A5-FCDE-22150A633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408" y="2101463"/>
            <a:ext cx="5897018" cy="297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7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F40A-DFA2-61E6-AD02-637FE9A3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73D4796-8DF9-F8B1-B0A7-3C8B6F49FCD8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21DFAEB1-E89F-B8C2-AA6C-F1CDD2132E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6D74CC3E-5ED6-20FA-7019-CD73E77AB783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Evaluation &amp; Perfomance Quality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85092A85-8203-71C3-0BA1-3C28A748F64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FC4838-BBFD-FCED-AAAD-6BBF7AE3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14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618D4B2-6780-9348-6C1C-79DF02AED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449" y="870318"/>
            <a:ext cx="5850841" cy="516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1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2EC7-A819-694D-3EC2-CF4B1C75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C56D918-48E9-16BB-C221-87A32063E4AC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8967EBFD-1ABB-DD28-B55B-18F223808C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FEB39486-8FBE-3C33-AA6A-34082B1BA92E}"/>
              </a:ext>
            </a:extLst>
          </p:cNvPr>
          <p:cNvSpPr txBox="1"/>
          <p:nvPr/>
        </p:nvSpPr>
        <p:spPr>
          <a:xfrm>
            <a:off x="724582" y="100051"/>
            <a:ext cx="9440497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300" b="1" dirty="0">
                <a:solidFill>
                  <a:srgbClr val="FF6A00"/>
                </a:solidFill>
                <a:latin typeface="Inter" panose="02000503000000020004" pitchFamily="2" charset="0"/>
              </a:rPr>
              <a:t>Attack Distribution in Training  vs Attack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25D04C1-868A-38B3-8855-29C13C47CB71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7FB63-2158-B0CC-EEB0-4275901F4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15</a:t>
            </a:fld>
            <a:endParaRPr lang="en-GB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FB4D8AB-8ADB-20CB-56F1-95402F9F29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49"/>
          <a:stretch>
            <a:fillRect/>
          </a:stretch>
        </p:blipFill>
        <p:spPr>
          <a:xfrm>
            <a:off x="6408303" y="911807"/>
            <a:ext cx="3886742" cy="512359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5C1E74C-0CC6-CEC6-C487-FB3B34D65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82" y="854103"/>
            <a:ext cx="4792298" cy="4369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70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CD18E-C2DF-C3AB-FBA5-07BE014F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B9792A-4276-4A9F-9A70-8C54D011BB17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9300D466-932E-A927-66FB-05510A7FB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B4050EEC-3ADC-27B4-69C6-4C2AA8D243DF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Advanced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Task: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Granularity</a:t>
            </a:r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 </a:t>
            </a:r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Limitations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7D7F4AD-D25E-9D4C-BA21-F8EE9F79F514}"/>
              </a:ext>
            </a:extLst>
          </p:cNvPr>
          <p:cNvSpPr txBox="1"/>
          <p:nvPr/>
        </p:nvSpPr>
        <p:spPr>
          <a:xfrm>
            <a:off x="915766" y="1547274"/>
            <a:ext cx="9872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Experiment: </a:t>
            </a:r>
            <a:r>
              <a:rPr lang="en-US" altLang="en-US" sz="2400" dirty="0">
                <a:latin typeface="Arial" panose="020B0604020202020204" pitchFamily="34" charset="0"/>
              </a:rPr>
              <a:t>Predicting 41 specific attack signatures vs. 5 broad categories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Observation: </a:t>
            </a:r>
            <a:r>
              <a:rPr lang="en-US" altLang="en-US" sz="2400" dirty="0">
                <a:latin typeface="Arial" panose="020B0604020202020204" pitchFamily="34" charset="0"/>
              </a:rPr>
              <a:t>Model performance degrades on specific labels (Accuracy drop to 15%)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Cause: </a:t>
            </a:r>
            <a:r>
              <a:rPr lang="en-US" altLang="en-US" sz="2400" dirty="0">
                <a:latin typeface="Arial" panose="020B0604020202020204" pitchFamily="34" charset="0"/>
              </a:rPr>
              <a:t>Data Sparsity: Several specific attacks appear &lt;3 times in the dataset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Grouping attacks in semantic categories (DoS, U2R, etc.) is necessary for statistical robustness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C39A029-ED43-2D9D-033D-8DB28FB206D1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E65108-5134-E08F-A49D-B44DAC485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4765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6E7B-7547-5F87-864B-2A48F461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2556991-4FE2-3B5F-5D4F-BDDDCE3F1A19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EDFFA552-3C6D-D076-D5EA-15AEA9D9A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A04535FC-CA3A-412F-0F1F-A512686AE0FA}"/>
              </a:ext>
            </a:extLst>
          </p:cNvPr>
          <p:cNvSpPr txBox="1"/>
          <p:nvPr/>
        </p:nvSpPr>
        <p:spPr>
          <a:xfrm>
            <a:off x="915764" y="100051"/>
            <a:ext cx="10438035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 err="1">
                <a:solidFill>
                  <a:srgbClr val="FF6A00"/>
                </a:solidFill>
                <a:latin typeface="Inter" panose="02000503000000020004" pitchFamily="2" charset="0"/>
              </a:rPr>
              <a:t>Conclusion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679657EE-7D3A-F44A-E00D-75416445C0FE}"/>
              </a:ext>
            </a:extLst>
          </p:cNvPr>
          <p:cNvSpPr txBox="1"/>
          <p:nvPr/>
        </p:nvSpPr>
        <p:spPr>
          <a:xfrm>
            <a:off x="915766" y="1547274"/>
            <a:ext cx="98722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Arial" panose="020B0604020202020204" pitchFamily="34" charset="0"/>
              </a:rPr>
              <a:t>Summary: </a:t>
            </a:r>
            <a:r>
              <a:rPr lang="en-US" altLang="en-US" sz="2400" dirty="0">
                <a:latin typeface="Arial" panose="020B0604020202020204" pitchFamily="34" charset="0"/>
              </a:rPr>
              <a:t>Successfully implemented a State-of-the-Art Transformer architecture for NIDS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lang="en-US" altLang="en-US" sz="2400" b="1" dirty="0">
                <a:latin typeface="Arial" panose="020B0604020202020204" pitchFamily="34" charset="0"/>
              </a:rPr>
              <a:t> Finding: </a:t>
            </a:r>
            <a:r>
              <a:rPr lang="en-US" altLang="en-US" sz="2400" dirty="0">
                <a:latin typeface="Arial" panose="020B0604020202020204" pitchFamily="34" charset="0"/>
              </a:rPr>
              <a:t>Self-Supervised Learning (SSL) significantly outperforms baselines in high-imbalance scenarios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400" dirty="0">
              <a:latin typeface="Inter Light" panose="02000503000000020004"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7E4070E-41CA-201A-6B14-1A613E2D6FBB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D8A822-5643-4515-3620-12D242A02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439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E9153-6E18-9CAE-5465-7DC6F628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08C3AB0-E5A9-D6CA-2F7F-7893AEE82066}"/>
              </a:ext>
            </a:extLst>
          </p:cNvPr>
          <p:cNvCxnSpPr>
            <a:cxnSpLocks/>
          </p:cNvCxnSpPr>
          <p:nvPr/>
        </p:nvCxnSpPr>
        <p:spPr>
          <a:xfrm>
            <a:off x="0" y="477078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 descr="Ein Bild, das Logo enthält.&#10;&#10;Automatisch generierte Beschreibung">
            <a:extLst>
              <a:ext uri="{FF2B5EF4-FFF2-40B4-BE49-F238E27FC236}">
                <a16:creationId xmlns:a16="http://schemas.microsoft.com/office/drawing/2014/main" id="{CBEC131C-0056-CF84-193E-B2BA31C89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66" y="6220124"/>
            <a:ext cx="2825502" cy="509017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EB412B9F-2607-F8CB-1597-6411F6C30A8A}"/>
              </a:ext>
            </a:extLst>
          </p:cNvPr>
          <p:cNvSpPr txBox="1"/>
          <p:nvPr/>
        </p:nvSpPr>
        <p:spPr>
          <a:xfrm>
            <a:off x="915765" y="100051"/>
            <a:ext cx="2129188" cy="754053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4300" b="1" dirty="0">
                <a:solidFill>
                  <a:srgbClr val="FF6A00"/>
                </a:solidFill>
                <a:latin typeface="Inter" panose="02000503000000020004" pitchFamily="2" charset="0"/>
              </a:rPr>
              <a:t>Sources </a:t>
            </a:r>
            <a:endParaRPr lang="en-US" sz="4300" b="1" dirty="0">
              <a:solidFill>
                <a:srgbClr val="FF6A00"/>
              </a:solidFill>
              <a:latin typeface="Inter" panose="02000503000000020004" pitchFamily="2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1AF004A-D890-44F4-C968-16459AC7B27F}"/>
              </a:ext>
            </a:extLst>
          </p:cNvPr>
          <p:cNvSpPr txBox="1"/>
          <p:nvPr/>
        </p:nvSpPr>
        <p:spPr>
          <a:xfrm>
            <a:off x="915766" y="1547274"/>
            <a:ext cx="630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nter Light" panose="02000503000000020004"/>
              </a:rPr>
              <a:t>https://github.com/NoahRau/AIandSec_Project3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62B84C5-55FE-F986-8993-7DF2B0DB3B01}"/>
              </a:ext>
            </a:extLst>
          </p:cNvPr>
          <p:cNvCxnSpPr>
            <a:cxnSpLocks/>
          </p:cNvCxnSpPr>
          <p:nvPr/>
        </p:nvCxnSpPr>
        <p:spPr>
          <a:xfrm>
            <a:off x="0" y="6142383"/>
            <a:ext cx="12192000" cy="0"/>
          </a:xfrm>
          <a:prstGeom prst="line">
            <a:avLst/>
          </a:prstGeom>
          <a:ln w="19050">
            <a:solidFill>
              <a:srgbClr val="FF69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D23CC-D082-3BE6-5A4D-D2435920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7A728-0978-4F84-B02A-B67BD1D5B96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87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</Words>
  <Application>Microsoft Office PowerPoint</Application>
  <PresentationFormat>Breitbild</PresentationFormat>
  <Paragraphs>82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Inter</vt:lpstr>
      <vt:lpstr>Inter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Berwind, Jonathan</dc:creator>
  <cp:lastModifiedBy>Raupold, Noah</cp:lastModifiedBy>
  <cp:revision>8</cp:revision>
  <dcterms:created xsi:type="dcterms:W3CDTF">2026-01-19T15:16:59Z</dcterms:created>
  <dcterms:modified xsi:type="dcterms:W3CDTF">2026-01-25T11:45:03Z</dcterms:modified>
</cp:coreProperties>
</file>