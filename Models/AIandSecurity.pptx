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  <p:sldId id="318" r:id="rId3"/>
    <p:sldId id="319" r:id="rId4"/>
    <p:sldId id="320" r:id="rId5"/>
    <p:sldId id="329" r:id="rId6"/>
    <p:sldId id="321" r:id="rId7"/>
    <p:sldId id="322" r:id="rId8"/>
    <p:sldId id="323" r:id="rId9"/>
    <p:sldId id="324" r:id="rId10"/>
    <p:sldId id="328" r:id="rId11"/>
    <p:sldId id="327" r:id="rId12"/>
    <p:sldId id="325" r:id="rId13"/>
    <p:sldId id="32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94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E4FF0E-3791-54BF-B535-78FE8845B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D5C109-2806-6190-A226-1AA9B2088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F2C9F9-2D76-B4CC-2650-09DC1655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7A18B9-B094-D087-E1A8-8567B3045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62F386-25E2-3F0A-34EE-20349FFBF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8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F18492-768E-D425-76CE-C724744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65927C-F381-4033-2139-F42B2E10B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33CFF2-71D7-9E57-DCE6-DA5586344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E7F246-FC34-E3B5-D2D2-B93B66CC5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9B523F-34D8-2AC9-2239-4DA5790F5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80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7E0F9B-BF05-6C84-1C97-B55DBE15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0408AE-5155-61C2-B025-965AAD76D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A63F9E-5FD7-A78E-3E6F-1542C68E3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193E04-7935-180A-BE80-094475EF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A7C5B2-F739-1778-01B7-4FBA797FD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48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6E2AE8-CBB6-F7C2-7109-9BFE6AAF6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30593F-DC90-259F-3CA0-603CD56632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53EF30-7859-13C9-2C55-0FEFB4B8B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111194-D2D7-A916-4C4C-4329F6171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5F0F8A-BE0D-0F22-F9CB-BBCBC14AA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3C9B87-36FC-42FB-4793-ED6F7948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59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D0A04A-BDC4-07D9-0327-C75178C55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C9EECB-F3B2-5337-1345-CD32AA9D5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DD6AF6A-BE6A-07D4-F3F7-03BDC65B3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2A0FFD3-3D72-006C-793B-19CE991A27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5B93B3-AA71-C655-88A1-C5A456FAA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4FECD8-ACA0-1451-D04E-36931033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CF5CFB-C154-7D45-5BD3-6CD0463EA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3DE802-95EF-CE7A-57B2-FF6E3577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6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122C47-DA4C-FEA3-395A-20184AA26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07D6203-3DC6-F709-692B-6203F83A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85350C-D243-1B01-2665-922BE186F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7267F92-8F8E-1ABE-3BBC-59BED07C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46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BCF791A-75AB-C05C-BCEE-E6A31E12D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706297A-8995-DDE1-5632-71F77A1B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EDD139-E05F-D9DF-D959-A82605EF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14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8D0C5D-E67C-5F45-836F-286327508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BB8187-4D9E-4639-3C58-E6F3C6DE3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0520C3-E726-815D-1E62-E0A941F7F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0C6CF0E-EA3F-94EE-1040-18A40E04C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767640-DEDD-3E5E-1BDC-F27E652D1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22212D-2F40-C5D6-B294-8D0143BC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7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F11DFB-FE00-3F7E-A622-79BBACBFC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4CDD337-B576-FB1A-6222-2D8CFABDD3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73C2651-F263-F08B-1A73-81C379B6E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9CEE1ED-AE16-2F1F-4D53-A9193747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DF915B7-0F19-005D-7EE6-7537610DD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F1F5D1-FC4C-18B2-4B74-615169F1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76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4942E6-C81B-76D6-F6FD-B821F7BEA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40FF664-F8D2-0D0F-7F89-7057AC96B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927F4A-A451-F734-1F46-2F3C978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3255B8-C9E4-D285-D901-6B718F9F5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88B002-BCD0-8559-913F-6EBF800E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55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3AF3475-0445-ECF0-E541-E0041153B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9782D42-7B40-A4E3-E6F7-D0AF9AAF4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8B6AAF-65ED-73F4-40A2-D6E3B8C07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68252E-0FDE-BFB2-A5F9-EE41C17C1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784E8A-33CB-12A1-4FD6-6E34F734B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15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6D36D12-24D4-7386-05D4-EC2963E1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C55286-DFB0-5377-7993-91C525714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FC299C-2E42-FEDB-9741-FB7A8F5FC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30995-224F-4A49-BE9D-2F680228FC21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DE2671-20CA-A4F0-2D0E-4DA2CE708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77D53C-4D7D-B8D5-36CF-165B108D8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84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D3B9984-4D8F-2093-5C45-B39AEB506B7C}"/>
              </a:ext>
            </a:extLst>
          </p:cNvPr>
          <p:cNvCxnSpPr/>
          <p:nvPr/>
        </p:nvCxnSpPr>
        <p:spPr>
          <a:xfrm>
            <a:off x="0" y="636104"/>
            <a:ext cx="11867322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 descr="Ein Bild, das Logo enthält.&#10;&#10;Automatisch generierte Beschreibung">
            <a:extLst>
              <a:ext uri="{FF2B5EF4-FFF2-40B4-BE49-F238E27FC236}">
                <a16:creationId xmlns:a16="http://schemas.microsoft.com/office/drawing/2014/main" id="{2A73785C-C64E-B761-98FD-2D32A84E648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125" y="89458"/>
            <a:ext cx="1357126" cy="457188"/>
          </a:xfrm>
          <a:prstGeom prst="rect">
            <a:avLst/>
          </a:prstGeom>
        </p:spPr>
      </p:pic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0A81F479-0B5A-7945-901D-2229A9B1EF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1896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175B8FA0-6B80-0778-B48E-C244EF6C4E6E}"/>
              </a:ext>
            </a:extLst>
          </p:cNvPr>
          <p:cNvSpPr txBox="1"/>
          <p:nvPr/>
        </p:nvSpPr>
        <p:spPr>
          <a:xfrm>
            <a:off x="1030886" y="1112722"/>
            <a:ext cx="980555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6600" b="1" dirty="0">
                <a:solidFill>
                  <a:srgbClr val="FF6A00"/>
                </a:solidFill>
                <a:latin typeface="Inter" panose="02000503000000020004" pitchFamily="2" charset="0"/>
              </a:rPr>
              <a:t>Next-Gen Network Intrusion </a:t>
            </a:r>
            <a:r>
              <a:rPr lang="de-DE" sz="6600" b="1" dirty="0" err="1">
                <a:solidFill>
                  <a:srgbClr val="FF6A00"/>
                </a:solidFill>
                <a:latin typeface="Inter" panose="02000503000000020004" pitchFamily="2" charset="0"/>
              </a:rPr>
              <a:t>Detection</a:t>
            </a:r>
            <a:endParaRPr lang="en-US" sz="66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9F12D1-B971-CF82-01B6-4687A89C2F6B}"/>
              </a:ext>
            </a:extLst>
          </p:cNvPr>
          <p:cNvSpPr txBox="1"/>
          <p:nvPr/>
        </p:nvSpPr>
        <p:spPr>
          <a:xfrm>
            <a:off x="3023633" y="4982835"/>
            <a:ext cx="5820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Noah </a:t>
            </a:r>
            <a:r>
              <a:rPr lang="en-US" dirty="0" err="1"/>
              <a:t>Raupold</a:t>
            </a:r>
            <a:r>
              <a:rPr lang="en-US" dirty="0"/>
              <a:t>, </a:t>
            </a:r>
            <a:r>
              <a:rPr lang="de-DE" dirty="0"/>
              <a:t>Mohammad </a:t>
            </a:r>
            <a:r>
              <a:rPr lang="de-DE" dirty="0" err="1"/>
              <a:t>Ayoubi</a:t>
            </a:r>
            <a:r>
              <a:rPr lang="en-US" dirty="0"/>
              <a:t>, Jonathan Berwind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D9FBF-6F5F-5CFC-B8A0-29355773639B}"/>
              </a:ext>
            </a:extLst>
          </p:cNvPr>
          <p:cNvSpPr txBox="1"/>
          <p:nvPr/>
        </p:nvSpPr>
        <p:spPr>
          <a:xfrm>
            <a:off x="2661060" y="3712997"/>
            <a:ext cx="68698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Self-Supervised Tabular Transformers &amp; </a:t>
            </a:r>
            <a:r>
              <a:rPr lang="en-US" sz="2000" dirty="0" err="1"/>
              <a:t>SwiGLU</a:t>
            </a:r>
            <a:r>
              <a:rPr lang="en-US" sz="2000" dirty="0"/>
              <a:t> Architecture</a:t>
            </a:r>
            <a:endParaRPr lang="en-DE" sz="2000" b="1" u="sng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070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61D47-19FB-187E-FEAD-430ADA6B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18A7DC5-33BF-0B46-F37D-A9D8752276F1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56F799B4-EED7-848A-DA05-801DBF32D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032948BB-5800-FB35-22EA-5A5ACBC1FC13}"/>
              </a:ext>
            </a:extLst>
          </p:cNvPr>
          <p:cNvSpPr txBox="1"/>
          <p:nvPr/>
        </p:nvSpPr>
        <p:spPr>
          <a:xfrm>
            <a:off x="915765" y="100051"/>
            <a:ext cx="7102819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300" b="1" dirty="0">
                <a:solidFill>
                  <a:srgbClr val="FF6A00"/>
                </a:solidFill>
                <a:latin typeface="Inter" panose="02000503000000020004" pitchFamily="2" charset="0"/>
              </a:rPr>
              <a:t>Project Objective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8EAD6CE-D079-E809-C0D8-69BCDFFA1170}"/>
              </a:ext>
            </a:extLst>
          </p:cNvPr>
          <p:cNvSpPr txBox="1"/>
          <p:nvPr/>
        </p:nvSpPr>
        <p:spPr>
          <a:xfrm>
            <a:off x="915766" y="1547274"/>
            <a:ext cx="98722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a robust classifier for TCP network traffic anomalies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Connection features (Duration, Service, Bytes, Flags)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Classify traffic into 5 classes: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(safe traffic)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(Denial of Service)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Probe </a:t>
            </a:r>
            <a:r>
              <a:rPr lang="en-US" altLang="en-US" sz="2400" dirty="0">
                <a:latin typeface="Arial" panose="020B0604020202020204" pitchFamily="34" charset="0"/>
              </a:rPr>
              <a:t>(Scanning)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U2</a:t>
            </a:r>
            <a:r>
              <a:rPr lang="en-US" altLang="en-US" sz="2400" b="1" dirty="0">
                <a:latin typeface="Arial" panose="020B0604020202020204" pitchFamily="34" charset="0"/>
              </a:rPr>
              <a:t>R </a:t>
            </a:r>
            <a:r>
              <a:rPr lang="en-US" altLang="en-US" sz="2400" dirty="0">
                <a:latin typeface="Arial" panose="020B0604020202020204" pitchFamily="34" charset="0"/>
              </a:rPr>
              <a:t>(Unauthorized Access to Local Superuser)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R2L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(Unauthorized Access from Remote)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0E0B8E1-9EA1-FB97-1410-A212FA459660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1094EF-72FD-9045-D99E-318FC522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32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3EBA9-75F0-8124-2738-C7F80171B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A05F986-C6B5-D722-D674-510E9B2E1D0E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6F5F573B-5CFC-E2D3-B15B-317435FCB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60ECF213-B1CF-0563-13B6-2192437C485D}"/>
              </a:ext>
            </a:extLst>
          </p:cNvPr>
          <p:cNvSpPr txBox="1"/>
          <p:nvPr/>
        </p:nvSpPr>
        <p:spPr>
          <a:xfrm>
            <a:off x="915765" y="100051"/>
            <a:ext cx="7102819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300" b="1" dirty="0">
                <a:solidFill>
                  <a:srgbClr val="FF6A00"/>
                </a:solidFill>
                <a:latin typeface="Inter" panose="02000503000000020004" pitchFamily="2" charset="0"/>
              </a:rPr>
              <a:t>Data Analysis &amp; Challenges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833ABE6-B9D1-7472-59F6-BFA360EBFA72}"/>
              </a:ext>
            </a:extLst>
          </p:cNvPr>
          <p:cNvSpPr txBox="1"/>
          <p:nvPr/>
        </p:nvSpPr>
        <p:spPr>
          <a:xfrm>
            <a:off x="915766" y="1547274"/>
            <a:ext cx="98722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 Problem: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Extreme Class Imbalance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Distribution Analysis: The dataset is highly skewed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</a:t>
            </a:r>
            <a:r>
              <a:rPr lang="en-US" altLang="en-US" sz="2400" dirty="0">
                <a:latin typeface="Arial" panose="020B0604020202020204" pitchFamily="34" charset="0"/>
              </a:rPr>
              <a:t>/DoS &gt; 98% of data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U2R/R2</a:t>
            </a:r>
            <a:r>
              <a:rPr lang="en-US" altLang="en-US" sz="2400" dirty="0">
                <a:latin typeface="Arial" panose="020B0604020202020204" pitchFamily="34" charset="0"/>
              </a:rPr>
              <a:t>L: &lt;0.5%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 Bi</a:t>
            </a:r>
            <a:r>
              <a:rPr lang="en-US" altLang="en-US" sz="2400" b="1" dirty="0">
                <a:latin typeface="Arial" panose="020B0604020202020204" pitchFamily="34" charset="0"/>
              </a:rPr>
              <a:t>as: </a:t>
            </a:r>
            <a:r>
              <a:rPr lang="en-US" altLang="en-US" sz="2400" dirty="0">
                <a:latin typeface="Arial" panose="020B0604020202020204" pitchFamily="34" charset="0"/>
              </a:rPr>
              <a:t>Standard statistical models favor majority classes to minimize global loss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Security Risk: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accuracy on “Normal” traffic masks the failure to detect critical intrusions (False Negatives)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4D8EACF-61BD-5B7C-9452-19A1B4F7C99B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675EE0-BE79-34CD-1C69-0FFC0290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746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28E43-65D6-F9E8-72F4-2DD7352E0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D6C2C20-583D-666C-F414-B67386856361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C7CC11E6-1831-2FD1-AE2A-1E2E3F3E9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5B97909B-452C-419E-29F4-EDA67544FCEC}"/>
              </a:ext>
            </a:extLst>
          </p:cNvPr>
          <p:cNvSpPr txBox="1"/>
          <p:nvPr/>
        </p:nvSpPr>
        <p:spPr>
          <a:xfrm>
            <a:off x="915766" y="92632"/>
            <a:ext cx="8941667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300" b="1" dirty="0">
                <a:solidFill>
                  <a:srgbClr val="FF6A00"/>
                </a:solidFill>
                <a:latin typeface="Inter" panose="02000503000000020004" pitchFamily="2" charset="0"/>
              </a:rPr>
              <a:t>Baseline Analysis: Logistic Regression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C3DD060-C6B4-4980-1CC9-C292173B17F1}"/>
              </a:ext>
            </a:extLst>
          </p:cNvPr>
          <p:cNvSpPr txBox="1"/>
          <p:nvPr/>
        </p:nvSpPr>
        <p:spPr>
          <a:xfrm>
            <a:off x="915766" y="1547274"/>
            <a:ext cx="987220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 Model: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Global Accuracy: </a:t>
            </a:r>
            <a:r>
              <a:rPr lang="en-US" sz="2400" dirty="0"/>
              <a:t>High accuracy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Recall on Minority Classes (U2R): </a:t>
            </a:r>
            <a:r>
              <a:rPr lang="en-US" altLang="en-US" sz="2400" dirty="0">
                <a:latin typeface="Arial" panose="020B0604020202020204" pitchFamily="34" charset="0"/>
              </a:rPr>
              <a:t>&lt;50% 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baseline model </a:t>
            </a:r>
            <a:r>
              <a:rPr lang="en-US" altLang="en-US" sz="2400" dirty="0">
                <a:latin typeface="Arial" panose="020B0604020202020204" pitchFamily="34" charset="0"/>
              </a:rPr>
              <a:t>fails to generalize on sparse data. Accuracy is an unsuitable metric this specific security domain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035EFB7-D92E-E583-9000-63C11BB12F17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43DB62-3A30-DE66-DBF8-AEE1BA15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64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1ACF-3696-1D51-FC02-F74C79D8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80E93E9-5EE3-4D5C-F554-40AD1ECB2465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A83C0910-3B8A-6779-997C-622A13253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1572543E-CA5F-CD46-4BFB-80AA0FBB831E}"/>
              </a:ext>
            </a:extLst>
          </p:cNvPr>
          <p:cNvSpPr txBox="1"/>
          <p:nvPr/>
        </p:nvSpPr>
        <p:spPr>
          <a:xfrm>
            <a:off x="915766" y="92632"/>
            <a:ext cx="8941667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300" b="1" dirty="0">
                <a:solidFill>
                  <a:srgbClr val="FF6A00"/>
                </a:solidFill>
                <a:latin typeface="Inter" panose="02000503000000020004" pitchFamily="2" charset="0"/>
              </a:rPr>
              <a:t>Baseline Analysis: Logistic Regression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4402896-71D4-E953-3177-20459AEF25EB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5E29EE-80F3-B2FB-DE09-A99493A5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5</a:t>
            </a:fld>
            <a:endParaRPr lang="en-GB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2E9B478-443F-DEC2-D17C-62AA990F0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691" y="911103"/>
            <a:ext cx="5487410" cy="479725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F2DD626-3458-4AB2-2DEF-4BCD875F4F34}"/>
              </a:ext>
            </a:extLst>
          </p:cNvPr>
          <p:cNvSpPr txBox="1"/>
          <p:nvPr/>
        </p:nvSpPr>
        <p:spPr>
          <a:xfrm>
            <a:off x="915766" y="1280710"/>
            <a:ext cx="20987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Mathews Correlation Coefficient: </a:t>
            </a:r>
            <a:r>
              <a:rPr lang="en-US" dirty="0"/>
              <a:t>0.6934</a:t>
            </a:r>
          </a:p>
          <a:p>
            <a:endParaRPr lang="en-US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798BAC8-3E57-3A84-7094-247F6C8FD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37" y="2930401"/>
            <a:ext cx="4711662" cy="233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1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8771-3495-6A0E-A7F1-47FD42E4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E737B2D6-73AF-43ED-9D60-EC4D55D807F9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D5284524-8DB5-AEA3-A8AA-B3AF35786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CFDD5965-485D-14E5-368C-251B66FF2C08}"/>
              </a:ext>
            </a:extLst>
          </p:cNvPr>
          <p:cNvSpPr txBox="1"/>
          <p:nvPr/>
        </p:nvSpPr>
        <p:spPr>
          <a:xfrm>
            <a:off x="915765" y="100051"/>
            <a:ext cx="9755584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300" b="1" dirty="0">
                <a:solidFill>
                  <a:srgbClr val="FF6A00"/>
                </a:solidFill>
                <a:latin typeface="Inter" panose="02000503000000020004" pitchFamily="2" charset="0"/>
              </a:rPr>
              <a:t>Our Solution: Tabular Vision Transformer 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441AE78-0C3E-0482-5BAA-64C67A9C16C5}"/>
              </a:ext>
            </a:extLst>
          </p:cNvPr>
          <p:cNvSpPr txBox="1"/>
          <p:nvPr/>
        </p:nvSpPr>
        <p:spPr>
          <a:xfrm>
            <a:off x="915766" y="1547274"/>
            <a:ext cx="98722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Architecture Shift: </a:t>
            </a:r>
            <a:r>
              <a:rPr lang="en-US" altLang="en-US" sz="2400" dirty="0">
                <a:latin typeface="Arial" panose="020B0604020202020204" pitchFamily="34" charset="0"/>
              </a:rPr>
              <a:t>Transition from linear models to Deep Learning with Attention Mechanisms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Core Model: Tabular </a:t>
            </a:r>
            <a:r>
              <a:rPr lang="en-US" altLang="en-US" sz="2400" b="1" dirty="0" err="1">
                <a:latin typeface="Arial" panose="020B0604020202020204" pitchFamily="34" charset="0"/>
              </a:rPr>
              <a:t>ViT</a:t>
            </a:r>
            <a:r>
              <a:rPr lang="en-US" altLang="en-US" sz="2400" b="1" dirty="0"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</a:rPr>
              <a:t>(Vision Transformer applied to tabular data)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Feature Embedding: </a:t>
            </a:r>
            <a:r>
              <a:rPr lang="en-US" altLang="en-US" sz="2400" dirty="0">
                <a:latin typeface="Arial" panose="020B0604020202020204" pitchFamily="34" charset="0"/>
              </a:rPr>
              <a:t>Converting continuous and categorial features into dense vector embeddings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Self-Attention: </a:t>
            </a:r>
            <a:r>
              <a:rPr lang="en-US" altLang="en-US" sz="2400" dirty="0">
                <a:latin typeface="Arial" panose="020B0604020202020204" pitchFamily="34" charset="0"/>
              </a:rPr>
              <a:t>Enabling the model to learn non-linear dependencies and context between features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C66DD25-F24D-6B79-B275-3E0E909E567A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25389B-F5BC-DCAF-2043-54996C46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803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0E2E6-24F6-BCCF-F322-35BA5B2EE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7ACA1A0-C685-E36C-69CE-ABF2306194E3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5A4EAA86-D3FD-8728-2916-5A082D398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9651C9B3-87FF-E3D4-F3E8-1559EDF6B144}"/>
              </a:ext>
            </a:extLst>
          </p:cNvPr>
          <p:cNvSpPr txBox="1"/>
          <p:nvPr/>
        </p:nvSpPr>
        <p:spPr>
          <a:xfrm>
            <a:off x="915764" y="100051"/>
            <a:ext cx="10438035" cy="1415772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Training </a:t>
            </a:r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Strategy</a:t>
            </a:r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: Self-</a:t>
            </a:r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Supervised</a:t>
            </a:r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 Learning (DINO)</a:t>
            </a:r>
            <a:endParaRPr lang="en-US" sz="43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24912E30-4D15-E977-6522-6F06DB1BB0B5}"/>
              </a:ext>
            </a:extLst>
          </p:cNvPr>
          <p:cNvSpPr txBox="1"/>
          <p:nvPr/>
        </p:nvSpPr>
        <p:spPr>
          <a:xfrm>
            <a:off x="915766" y="1547274"/>
            <a:ext cx="98722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Method: DINO </a:t>
            </a:r>
            <a:r>
              <a:rPr lang="en-US" altLang="en-US" sz="2400" dirty="0">
                <a:latin typeface="Arial" panose="020B0604020202020204" pitchFamily="34" charset="0"/>
              </a:rPr>
              <a:t>(Self-Distillation with no Labels)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Mechanisms: </a:t>
            </a:r>
            <a:r>
              <a:rPr lang="en-US" altLang="en-US" sz="2400" dirty="0">
                <a:latin typeface="Arial" panose="020B0604020202020204" pitchFamily="34" charset="0"/>
              </a:rPr>
              <a:t>Teacher-Student Architecture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Input: </a:t>
            </a:r>
            <a:r>
              <a:rPr lang="en-US" altLang="en-US" sz="2400" dirty="0">
                <a:latin typeface="Arial" panose="020B0604020202020204" pitchFamily="34" charset="0"/>
              </a:rPr>
              <a:t>Masked views of the data samples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Objective: </a:t>
            </a:r>
            <a:r>
              <a:rPr lang="en-US" altLang="en-US" sz="2400" dirty="0">
                <a:latin typeface="Arial" panose="020B0604020202020204" pitchFamily="34" charset="0"/>
              </a:rPr>
              <a:t>The Student network minimizes the reconstruction loss against the Teacher’s output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Rationale: </a:t>
            </a:r>
            <a:r>
              <a:rPr lang="en-US" altLang="en-US" sz="2400" dirty="0">
                <a:latin typeface="Arial" panose="020B0604020202020204" pitchFamily="34" charset="0"/>
              </a:rPr>
              <a:t>Allows the model to learn the intrinsic manifold of the data and robust feature representation without relying on the sparse labels of attack classes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FFB8DFB-1EDD-6CE6-80D3-683E68F1B033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A6CD68-266E-2962-8D21-1D81C3974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918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685BA-D650-1DA1-0658-991D5148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F2A044C-ABBB-D40D-1CAB-315F9977F3E1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76F89292-E350-8E86-7C47-34C9E1531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D1938537-124D-50A4-1BC2-73FEDD034978}"/>
              </a:ext>
            </a:extLst>
          </p:cNvPr>
          <p:cNvSpPr txBox="1"/>
          <p:nvPr/>
        </p:nvSpPr>
        <p:spPr>
          <a:xfrm>
            <a:off x="915764" y="100051"/>
            <a:ext cx="10438035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Classification Head: </a:t>
            </a:r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SwiGLU</a:t>
            </a:r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 </a:t>
            </a:r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Activation</a:t>
            </a:r>
            <a:endParaRPr lang="en-US" sz="43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5F8F654-EC90-5828-3E90-4A46DCA4E4A0}"/>
              </a:ext>
            </a:extLst>
          </p:cNvPr>
          <p:cNvSpPr txBox="1"/>
          <p:nvPr/>
        </p:nvSpPr>
        <p:spPr>
          <a:xfrm>
            <a:off x="915766" y="1547274"/>
            <a:ext cx="98722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Layer Design: </a:t>
            </a:r>
            <a:r>
              <a:rPr lang="en-US" altLang="en-US" sz="2400" dirty="0">
                <a:latin typeface="Arial" panose="020B0604020202020204" pitchFamily="34" charset="0"/>
              </a:rPr>
              <a:t>Replacing standard </a:t>
            </a:r>
            <a:r>
              <a:rPr lang="en-US" altLang="en-US" sz="2400" dirty="0" err="1">
                <a:latin typeface="Arial" panose="020B0604020202020204" pitchFamily="34" charset="0"/>
              </a:rPr>
              <a:t>ReLUI</a:t>
            </a:r>
            <a:r>
              <a:rPr lang="en-US" altLang="en-US" sz="2400" dirty="0">
                <a:latin typeface="Arial" panose="020B0604020202020204" pitchFamily="34" charset="0"/>
              </a:rPr>
              <a:t> feed-forward networks with </a:t>
            </a:r>
            <a:r>
              <a:rPr lang="en-US" altLang="en-US" sz="2400" dirty="0" err="1">
                <a:latin typeface="Arial" panose="020B0604020202020204" pitchFamily="34" charset="0"/>
              </a:rPr>
              <a:t>SwiGLU</a:t>
            </a:r>
            <a:r>
              <a:rPr lang="en-US" altLang="en-US" sz="2400" dirty="0">
                <a:latin typeface="Arial" panose="020B0604020202020204" pitchFamily="34" charset="0"/>
              </a:rPr>
              <a:t> (Swish Gated Linear Units)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Mathematical Advantage: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Provides a gating mechanism to control information flow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Improves gradient flow and convergence on deep networks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Function: </a:t>
            </a:r>
            <a:r>
              <a:rPr lang="en-US" altLang="en-US" sz="2400" dirty="0">
                <a:latin typeface="Arial" panose="020B0604020202020204" pitchFamily="34" charset="0"/>
              </a:rPr>
              <a:t>Filters noise in the laten representation before the final </a:t>
            </a:r>
            <a:r>
              <a:rPr lang="en-US" altLang="en-US" sz="2400" dirty="0" err="1">
                <a:latin typeface="Arial" panose="020B0604020202020204" pitchFamily="34" charset="0"/>
              </a:rPr>
              <a:t>Softmax</a:t>
            </a:r>
            <a:r>
              <a:rPr lang="en-US" altLang="en-US" sz="2400" dirty="0">
                <a:latin typeface="Arial" panose="020B0604020202020204" pitchFamily="34" charset="0"/>
              </a:rPr>
              <a:t> classification layer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37F9AF4-6734-EF0C-E627-C552E365325D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F36456-C69F-6332-2311-817DC3783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108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8A438-B5A8-E614-AD79-4A8C1D605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54AAAEF-E311-67A5-B762-180C5EFED2B3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E6181941-2CE4-849D-4FE8-3D4117F8E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DFF6D646-8DE1-67A1-E54A-31275822A44A}"/>
              </a:ext>
            </a:extLst>
          </p:cNvPr>
          <p:cNvSpPr txBox="1"/>
          <p:nvPr/>
        </p:nvSpPr>
        <p:spPr>
          <a:xfrm>
            <a:off x="915764" y="100051"/>
            <a:ext cx="10438035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Evaluation &amp; Perfomance Quality</a:t>
            </a:r>
            <a:endParaRPr lang="en-US" sz="43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7BC1FC6-2CD9-5EDC-8BF7-8439569C334E}"/>
              </a:ext>
            </a:extLst>
          </p:cNvPr>
          <p:cNvSpPr txBox="1"/>
          <p:nvPr/>
        </p:nvSpPr>
        <p:spPr>
          <a:xfrm>
            <a:off x="915766" y="1547274"/>
            <a:ext cx="987220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Performance Metrics: </a:t>
            </a:r>
            <a:r>
              <a:rPr lang="en-US" altLang="en-US" sz="2400" dirty="0">
                <a:latin typeface="Arial" panose="020B0604020202020204" pitchFamily="34" charset="0"/>
              </a:rPr>
              <a:t>Focus on Weighted F1-Score and Class-Specific Recall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U2R Detection Rate: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Baseline: 0%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Transformer Model: ~41% - 67%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Advantage</a:t>
            </a:r>
            <a:r>
              <a:rPr lang="en-US" altLang="en-US" sz="2400" dirty="0">
                <a:latin typeface="Arial" panose="020B0604020202020204" pitchFamily="34" charset="0"/>
              </a:rPr>
              <a:t>: Massive increase in Minority Class Recall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Operational Outcome: </a:t>
            </a:r>
            <a:r>
              <a:rPr lang="en-US" altLang="en-US" sz="2400" dirty="0">
                <a:latin typeface="Arial" panose="020B0604020202020204" pitchFamily="34" charset="0"/>
              </a:rPr>
              <a:t>The system successfully identifies previously invisible threats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AE285F1-4288-A483-B6E2-877F72D47614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4CE9C7-A02F-A4CC-31D1-083F6A0C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386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56327-C594-9D54-A2A8-637A4855B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A8C0E13-FF37-6372-538B-AF4079D25CF8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5EFE0EE8-1AF2-BEEE-B6B8-5860B9E93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C19E2325-A7AF-553B-A6AD-785D488FDC7A}"/>
              </a:ext>
            </a:extLst>
          </p:cNvPr>
          <p:cNvSpPr txBox="1"/>
          <p:nvPr/>
        </p:nvSpPr>
        <p:spPr>
          <a:xfrm>
            <a:off x="915764" y="100051"/>
            <a:ext cx="10438035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Evaluation &amp; Perfomance Quality</a:t>
            </a:r>
            <a:endParaRPr lang="en-US" sz="43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165BED8-4ACB-C81D-18DC-A94125F50F0E}"/>
              </a:ext>
            </a:extLst>
          </p:cNvPr>
          <p:cNvSpPr txBox="1"/>
          <p:nvPr/>
        </p:nvSpPr>
        <p:spPr>
          <a:xfrm>
            <a:off x="915766" y="1547274"/>
            <a:ext cx="987220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Mathews Correlation Coefficient: </a:t>
            </a:r>
            <a:r>
              <a:rPr lang="en-US" sz="2400" dirty="0"/>
              <a:t>0.7578</a:t>
            </a:r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A6EEE45-F28C-A49E-B31C-F81644140F3D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895876-F957-3EFA-57E8-34299A53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10</a:t>
            </a:fld>
            <a:endParaRPr lang="en-GB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372A42C-FA1A-F3A5-FCDE-22150A633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408" y="2101463"/>
            <a:ext cx="5897018" cy="297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70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DF40A-DFA2-61E6-AD02-637FE9A3A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673D4796-8DF9-F8B1-B0A7-3C8B6F49FCD8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21DFAEB1-E89F-B8C2-AA6C-F1CDD2132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6D74CC3E-5ED6-20FA-7019-CD73E77AB783}"/>
              </a:ext>
            </a:extLst>
          </p:cNvPr>
          <p:cNvSpPr txBox="1"/>
          <p:nvPr/>
        </p:nvSpPr>
        <p:spPr>
          <a:xfrm>
            <a:off x="915764" y="100051"/>
            <a:ext cx="10438035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Evaluation &amp; Perfomance Quality</a:t>
            </a:r>
            <a:endParaRPr lang="en-US" sz="43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5092A85-8203-71C3-0BA1-3C28A748F64B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FC4838-BBFD-FCED-AAAD-6BBF7AE3A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11</a:t>
            </a:fld>
            <a:endParaRPr lang="en-GB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618D4B2-6780-9348-6C1C-79DF02AED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449" y="870318"/>
            <a:ext cx="5850841" cy="516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11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CD18E-C2DF-C3AB-FBA5-07BE014F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B9792A-4276-4A9F-9A70-8C54D011BB17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9300D466-932E-A927-66FB-05510A7FB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B4050EEC-3ADC-27B4-69C6-4C2AA8D243DF}"/>
              </a:ext>
            </a:extLst>
          </p:cNvPr>
          <p:cNvSpPr txBox="1"/>
          <p:nvPr/>
        </p:nvSpPr>
        <p:spPr>
          <a:xfrm>
            <a:off x="915764" y="100051"/>
            <a:ext cx="10438035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Advanced</a:t>
            </a:r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 Task: </a:t>
            </a:r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Granularity</a:t>
            </a:r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 </a:t>
            </a:r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Limitations</a:t>
            </a:r>
            <a:endParaRPr lang="en-US" sz="43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7D7F4AD-D25E-9D4C-BA21-F8EE9F79F514}"/>
              </a:ext>
            </a:extLst>
          </p:cNvPr>
          <p:cNvSpPr txBox="1"/>
          <p:nvPr/>
        </p:nvSpPr>
        <p:spPr>
          <a:xfrm>
            <a:off x="915766" y="1547274"/>
            <a:ext cx="98722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Experiment: </a:t>
            </a:r>
            <a:r>
              <a:rPr lang="en-US" altLang="en-US" sz="2400" dirty="0">
                <a:latin typeface="Arial" panose="020B0604020202020204" pitchFamily="34" charset="0"/>
              </a:rPr>
              <a:t>Predicting 41 specific attack signatures vs. 5 broad categories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Observation: </a:t>
            </a:r>
            <a:r>
              <a:rPr lang="en-US" altLang="en-US" sz="2400" dirty="0">
                <a:latin typeface="Arial" panose="020B0604020202020204" pitchFamily="34" charset="0"/>
              </a:rPr>
              <a:t>Model performance degrades on specific labels (Accuracy drop to 15%)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Cause: </a:t>
            </a:r>
            <a:r>
              <a:rPr lang="en-US" altLang="en-US" sz="2400" dirty="0">
                <a:latin typeface="Arial" panose="020B0604020202020204" pitchFamily="34" charset="0"/>
              </a:rPr>
              <a:t>Data Sparsity: Several specific attacks appear &lt;3 times in the dataset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400" dirty="0">
                <a:latin typeface="Arial" panose="020B0604020202020204" pitchFamily="34" charset="0"/>
                <a:sym typeface="Wingdings" panose="05000000000000000000" pitchFamily="2" charset="2"/>
              </a:rPr>
              <a:t>Grouping attacks in semantic categories (DoS, U2R, etc.) is necessary for statistical robustness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C39A029-ED43-2D9D-033D-8DB28FB206D1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E65108-5134-E08F-A49D-B44DAC48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765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F6E7B-7547-5F87-864B-2A48F461A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2556991-4FE2-3B5F-5D4F-BDDDCE3F1A19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EDFFA552-3C6D-D076-D5EA-15AEA9D9A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A04535FC-CA3A-412F-0F1F-A512686AE0FA}"/>
              </a:ext>
            </a:extLst>
          </p:cNvPr>
          <p:cNvSpPr txBox="1"/>
          <p:nvPr/>
        </p:nvSpPr>
        <p:spPr>
          <a:xfrm>
            <a:off x="915764" y="100051"/>
            <a:ext cx="10438035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Conclusion</a:t>
            </a:r>
            <a:endParaRPr lang="en-US" sz="43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79657EE-7D3A-F44A-E00D-75416445C0FE}"/>
              </a:ext>
            </a:extLst>
          </p:cNvPr>
          <p:cNvSpPr txBox="1"/>
          <p:nvPr/>
        </p:nvSpPr>
        <p:spPr>
          <a:xfrm>
            <a:off x="915766" y="1547274"/>
            <a:ext cx="98722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Summary: </a:t>
            </a:r>
            <a:r>
              <a:rPr lang="en-US" altLang="en-US" sz="2400" dirty="0">
                <a:latin typeface="Arial" panose="020B0604020202020204" pitchFamily="34" charset="0"/>
              </a:rPr>
              <a:t>Successfully implemented a State-of-the-Art Transformer architecture for NIDS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r>
              <a:rPr lang="en-US" altLang="en-US" sz="2400" b="1" dirty="0">
                <a:latin typeface="Arial" panose="020B0604020202020204" pitchFamily="34" charset="0"/>
              </a:rPr>
              <a:t> Finding: </a:t>
            </a:r>
            <a:r>
              <a:rPr lang="en-US" altLang="en-US" sz="2400" dirty="0">
                <a:latin typeface="Arial" panose="020B0604020202020204" pitchFamily="34" charset="0"/>
              </a:rPr>
              <a:t>Self-Supervised Learning (SSL) significantly outperforms baselines in high-imbalance scenarios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7E4070E-41CA-201A-6B14-1A613E2D6FBB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D8A822-5643-4515-3620-12D242A02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439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</Words>
  <Application>Microsoft Office PowerPoint</Application>
  <PresentationFormat>Breitbild</PresentationFormat>
  <Paragraphs>77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Inter</vt:lpstr>
      <vt:lpstr>Inter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Berwind, Jonathan</dc:creator>
  <cp:lastModifiedBy>Berwind, Jonathan</cp:lastModifiedBy>
  <cp:revision>3</cp:revision>
  <dcterms:created xsi:type="dcterms:W3CDTF">2026-01-19T15:16:59Z</dcterms:created>
  <dcterms:modified xsi:type="dcterms:W3CDTF">2026-01-20T15:55:07Z</dcterms:modified>
</cp:coreProperties>
</file>